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292608"/>
          </a:xfrm>
          <a:prstGeom prst="rect">
            <a:avLst/>
          </a:prstGeom>
          <a:noFill/>
        </p:spPr>
        <p:txBody>
          <a:bodyPr wrap="none" lIns="0" tIns="0" rIns="0" bIns="0">
            <a:spAutoFit/>
          </a:bodyPr>
          <a:lstStyle/>
          <a:p>
            <a:r>
              <a:rPr sz="1100" b="1" i="0">
                <a:solidFill>
                  <a:srgbClr val="008080"/>
                </a:solidFill>
                <a:latin typeface="Calibri"/>
              </a:rPr>
              <a:t>TRƯỜNG CÔNG NGHỆ THÔNG TIN VÀ TRUYỀN THÔNG (SOICT) — ĐẠI HỌC BÁCH KHOA HÀ NỘI</a:t>
            </a:r>
          </a:p>
        </p:txBody>
      </p:sp>
      <p:sp>
        <p:nvSpPr>
          <p:cNvPr id="4" name="TextBox 3"/>
          <p:cNvSpPr txBox="1"/>
          <p:nvPr/>
        </p:nvSpPr>
        <p:spPr>
          <a:xfrm>
            <a:off x="731520" y="713232"/>
            <a:ext cx="10728655" cy="274320"/>
          </a:xfrm>
          <a:prstGeom prst="rect">
            <a:avLst/>
          </a:prstGeom>
          <a:noFill/>
        </p:spPr>
        <p:txBody>
          <a:bodyPr wrap="none" lIns="0" tIns="0" rIns="0" bIns="0">
            <a:spAutoFit/>
          </a:bodyPr>
          <a:lstStyle/>
          <a:p>
            <a:r>
              <a:rPr sz="1000" b="0" i="0">
                <a:solidFill>
                  <a:srgbClr val="646E7D"/>
                </a:solidFill>
                <a:latin typeface="Calibri"/>
              </a:rPr>
              <a:t>HỌC PHẦN: NHẬP MÔN HỌC MÁY VÀ KHAI PHÁ DỮ LIỆU (IT3190) — BÁO CÁO ĐỀ XUẤT ĐỀ TÀI ĐỒ ÁN</a:t>
            </a:r>
          </a:p>
        </p:txBody>
      </p:sp>
      <p:sp>
        <p:nvSpPr>
          <p:cNvPr id="5" name="Rounded Rectangle 4"/>
          <p:cNvSpPr/>
          <p:nvPr/>
        </p:nvSpPr>
        <p:spPr>
          <a:xfrm>
            <a:off x="731520" y="1078992"/>
            <a:ext cx="10728655" cy="278892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365760" tIns="228600" rIns="365760"/>
          <a:lstStyle/>
          <a:p>
            <a:pPr algn="ctr"/>
            <a:r>
              <a:rPr sz="1200" b="1" i="0">
                <a:solidFill>
                  <a:srgbClr val="008080"/>
                </a:solidFill>
                <a:latin typeface="Calibri"/>
              </a:rPr>
              <a:t>ĐỀ TÀI 01: PHÁT HIỆN TIN GIẢ &amp; TIN GIẬT GÂN TIẾNG VIỆT (ViFND)
</a:t>
            </a:r>
          </a:p>
          <a:p>
            <a:pPr>
              <a:spcBef>
                <a:spcPts val="300"/>
              </a:spcBef>
            </a:pPr>
            <a:r>
              <a:rPr sz="2050" b="1" i="0">
                <a:solidFill>
                  <a:srgbClr val="1B365D"/>
                </a:solidFill>
                <a:latin typeface="Calibri"/>
              </a:rPr>
              <a:t>Phát Hiện Tin Giả Tiếng Việt Đa Chiều: Kết Hợp Biểu Diễn Ngữ Nghĩa Sâu (PhoBERT) &amp; Đặc Trưng Phong Cách Viết (Stylometrics) Cùng AI Giải Thích Được (SHAP XAI)
</a:t>
            </a:r>
          </a:p>
          <a:p>
            <a:pPr>
              <a:spcBef>
                <a:spcPts val="400"/>
              </a:spcBef>
            </a:pPr>
            <a:r>
              <a:rPr sz="1200" b="1" i="0">
                <a:solidFill>
                  <a:srgbClr val="008080"/>
                </a:solidFill>
                <a:latin typeface="Calibri"/>
              </a:rPr>
              <a:t>Đề xuất Bài tập lớn môn Học máy &amp; Khai phá Dữ liệu | Phương pháp tiếp cận Contract-First &amp; Late Feature Fusion
</a:t>
            </a:r>
          </a:p>
          <a:p>
            <a:pPr>
              <a:spcBef>
                <a:spcPts val="200"/>
              </a:spcBef>
            </a:pPr>
            <a:r>
              <a:rPr sz="1100" b="0" i="1">
                <a:solidFill>
                  <a:srgbClr val="222222"/>
                </a:solidFill>
                <a:latin typeface="Calibri"/>
              </a:rPr>
              <a:t>Vượt qua giới hạn 'hộp đen' và rào cản trùng lặp từ vựng bằng kỹ thuật Hợp nhất Đặc trưng Muộn (Late Feature Fusion) &amp; Kiến trúc Vận hành Contract-First Zero-Blocking</a:t>
            </a:r>
          </a:p>
        </p:txBody>
      </p:sp>
      <p:sp>
        <p:nvSpPr>
          <p:cNvPr id="6" name="Rounded Rectangle 5"/>
          <p:cNvSpPr/>
          <p:nvPr/>
        </p:nvSpPr>
        <p:spPr>
          <a:xfrm>
            <a:off x="731520" y="4069080"/>
            <a:ext cx="3364992" cy="2487168"/>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100" b="1" i="0">
                <a:solidFill>
                  <a:srgbClr val="1B365D"/>
                </a:solidFill>
                <a:latin typeface="Calibri"/>
              </a:rPr>
              <a:t>ĐỘI HÌNH THỰC HIỆN (NHÓM 3)
</a:t>
            </a:r>
          </a:p>
          <a:p>
            <a:pPr>
              <a:spcBef>
                <a:spcPts val="400"/>
              </a:spcBef>
            </a:pPr>
            <a:r>
              <a:rPr sz="950" b="1" i="0">
                <a:solidFill>
                  <a:srgbClr val="008080"/>
                </a:solidFill>
                <a:latin typeface="Calibri"/>
              </a:rPr>
              <a:t>• TV1: </a:t>
            </a:r>
            <a:r>
              <a:rPr sz="900" b="0" i="0">
                <a:solidFill>
                  <a:srgbClr val="222222"/>
                </a:solidFill>
                <a:latin typeface="Calibri"/>
              </a:rPr>
              <a:t>Kỹ sư Dữ liệu: Cào RSS đa nguồn &amp; Khử trùng MinHash LSH</a:t>
            </a:r>
          </a:p>
          <a:p>
            <a:pPr>
              <a:spcBef>
                <a:spcPts val="400"/>
              </a:spcBef>
            </a:pPr>
            <a:r>
              <a:rPr sz="950" b="1" i="0">
                <a:solidFill>
                  <a:srgbClr val="008080"/>
                </a:solidFill>
                <a:latin typeface="Calibri"/>
              </a:rPr>
              <a:t>• TV2: </a:t>
            </a:r>
            <a:r>
              <a:rPr sz="900" b="0" i="0">
                <a:solidFill>
                  <a:srgbClr val="222222"/>
                </a:solidFill>
                <a:latin typeface="Calibri"/>
              </a:rPr>
              <a:t>Kỹ sư Ngôn ngữ: Tách từ PyVi &amp; Trích xuất 15 Stylometrics</a:t>
            </a:r>
          </a:p>
          <a:p>
            <a:pPr>
              <a:spcBef>
                <a:spcPts val="400"/>
              </a:spcBef>
            </a:pPr>
            <a:r>
              <a:rPr sz="950" b="1" i="0">
                <a:solidFill>
                  <a:srgbClr val="008080"/>
                </a:solidFill>
                <a:latin typeface="Calibri"/>
              </a:rPr>
              <a:t>• TV3: </a:t>
            </a:r>
            <a:r>
              <a:rPr sz="900" b="0" i="0">
                <a:solidFill>
                  <a:srgbClr val="222222"/>
                </a:solidFill>
                <a:latin typeface="Calibri"/>
              </a:rPr>
              <a:t>Kỹ sư Học sâu: PhoBERT Head-Tail 256 &amp; Masked Pooling</a:t>
            </a:r>
          </a:p>
          <a:p>
            <a:pPr>
              <a:spcBef>
                <a:spcPts val="400"/>
              </a:spcBef>
            </a:pPr>
            <a:r>
              <a:rPr sz="950" b="1" i="0">
                <a:solidFill>
                  <a:srgbClr val="008080"/>
                </a:solidFill>
                <a:latin typeface="Calibri"/>
              </a:rPr>
              <a:t>• TV4: </a:t>
            </a:r>
            <a:r>
              <a:rPr sz="900" b="0" i="0">
                <a:solidFill>
                  <a:srgbClr val="222222"/>
                </a:solidFill>
                <a:latin typeface="Calibri"/>
              </a:rPr>
              <a:t>Trưởng nhóm Mô hình: Late Fusion (XGB/NN) &amp; SHAP XAI</a:t>
            </a:r>
          </a:p>
          <a:p>
            <a:pPr>
              <a:spcBef>
                <a:spcPts val="400"/>
              </a:spcBef>
            </a:pPr>
            <a:r>
              <a:rPr sz="950" b="1" i="0">
                <a:solidFill>
                  <a:srgbClr val="008080"/>
                </a:solidFill>
                <a:latin typeface="Calibri"/>
              </a:rPr>
              <a:t>• TV5: </a:t>
            </a:r>
            <a:r>
              <a:rPr sz="900" b="0" i="0">
                <a:solidFill>
                  <a:srgbClr val="222222"/>
                </a:solidFill>
                <a:latin typeface="Calibri"/>
              </a:rPr>
              <a:t>Kỹ sư MLOps: Giao diện Web Gradio, REST API &amp; Docker</a:t>
            </a:r>
          </a:p>
        </p:txBody>
      </p:sp>
      <p:sp>
        <p:nvSpPr>
          <p:cNvPr id="7" name="Rounded Rectangle 6"/>
          <p:cNvSpPr/>
          <p:nvPr/>
        </p:nvSpPr>
        <p:spPr>
          <a:xfrm>
            <a:off x="4407408" y="4069080"/>
            <a:ext cx="3364992" cy="2487168"/>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100" b="1" i="0">
                <a:solidFill>
                  <a:srgbClr val="1B365D"/>
                </a:solidFill>
                <a:latin typeface="Calibri"/>
              </a:rPr>
              <a:t>PHƯƠNG PHÁP &amp; NGUYÊN TẮC
</a:t>
            </a:r>
          </a:p>
          <a:p>
            <a:pPr>
              <a:spcBef>
                <a:spcPts val="400"/>
              </a:spcBef>
            </a:pPr>
            <a:r>
              <a:rPr sz="950" b="1" i="0">
                <a:solidFill>
                  <a:srgbClr val="1B365D"/>
                </a:solidFill>
                <a:latin typeface="Calibri"/>
              </a:rPr>
              <a:t>✔ Mô hình vận hành: </a:t>
            </a:r>
            <a:r>
              <a:rPr sz="900" b="0" i="0">
                <a:solidFill>
                  <a:srgbClr val="222222"/>
                </a:solidFill>
                <a:latin typeface="Calibri"/>
              </a:rPr>
              <a:t>Contract-First &amp; Mock-Driven Architecture (lập trình song song Ngày 1).</a:t>
            </a:r>
          </a:p>
          <a:p>
            <a:pPr>
              <a:spcBef>
                <a:spcPts val="400"/>
              </a:spcBef>
            </a:pPr>
            <a:r>
              <a:rPr sz="950" b="1" i="0">
                <a:solidFill>
                  <a:srgbClr val="1B365D"/>
                </a:solidFill>
                <a:latin typeface="Calibri"/>
              </a:rPr>
              <a:t>✔ Kiến trúc cốt lõi: </a:t>
            </a:r>
            <a:r>
              <a:rPr sz="900" b="0" i="0">
                <a:solidFill>
                  <a:srgbClr val="222222"/>
                </a:solidFill>
                <a:latin typeface="Calibri"/>
              </a:rPr>
              <a:t>Late Feature Fusion 783D (768D Ngữ nghĩa sâu + 15D Phong cách hình thức).</a:t>
            </a:r>
          </a:p>
          <a:p>
            <a:pPr>
              <a:spcBef>
                <a:spcPts val="400"/>
              </a:spcBef>
            </a:pPr>
            <a:r>
              <a:rPr sz="950" b="1" i="0">
                <a:solidFill>
                  <a:srgbClr val="1B365D"/>
                </a:solidFill>
                <a:latin typeface="Calibri"/>
              </a:rPr>
              <a:t>✔ Khử trùng lặp: </a:t>
            </a:r>
            <a:r>
              <a:rPr sz="900" b="0" i="0">
                <a:solidFill>
                  <a:srgbClr val="222222"/>
                </a:solidFill>
                <a:latin typeface="Calibri"/>
              </a:rPr>
              <a:t>MinHash LSH Jaccard &gt; 0.85 triệt tiêu bài sao chép, chống rò rỉ dữ liệu.</a:t>
            </a:r>
          </a:p>
          <a:p>
            <a:pPr>
              <a:spcBef>
                <a:spcPts val="400"/>
              </a:spcBef>
            </a:pPr>
            <a:r>
              <a:rPr sz="950" b="1" i="0">
                <a:solidFill>
                  <a:srgbClr val="1B365D"/>
                </a:solidFill>
                <a:latin typeface="Calibri"/>
              </a:rPr>
              <a:t>✔ Minh giải quyết định: </a:t>
            </a:r>
            <a:r>
              <a:rPr sz="900" b="0" i="0">
                <a:solidFill>
                  <a:srgbClr val="222222"/>
                </a:solidFill>
                <a:latin typeface="Calibri"/>
              </a:rPr>
              <a:t>SHAP TreeExplainer bóc tách % rủi ro từng đặc trưng cho mỗi bài báo.</a:t>
            </a:r>
          </a:p>
        </p:txBody>
      </p:sp>
      <p:sp>
        <p:nvSpPr>
          <p:cNvPr id="8" name="Rounded Rectangle 7"/>
          <p:cNvSpPr/>
          <p:nvPr/>
        </p:nvSpPr>
        <p:spPr>
          <a:xfrm>
            <a:off x="8083296" y="4069080"/>
            <a:ext cx="3364992" cy="2487168"/>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100" b="1" i="0">
                <a:solidFill>
                  <a:srgbClr val="1B365D"/>
                </a:solidFill>
                <a:latin typeface="Calibri"/>
              </a:rPr>
              <a:t>MỤC TIÊU BẢO VỆ ĐỀ CƯƠNG
</a:t>
            </a:r>
          </a:p>
          <a:p>
            <a:pPr>
              <a:spcBef>
                <a:spcPts val="400"/>
              </a:spcBef>
            </a:pPr>
            <a:r>
              <a:rPr sz="950" b="1" i="0">
                <a:solidFill>
                  <a:srgbClr val="008080"/>
                </a:solidFill>
                <a:latin typeface="Calibri"/>
              </a:rPr>
              <a:t>★ Phạm vi báo cáo: </a:t>
            </a:r>
            <a:r>
              <a:rPr sz="900" b="0" i="0">
                <a:solidFill>
                  <a:srgbClr val="222222"/>
                </a:solidFill>
                <a:latin typeface="Calibri"/>
              </a:rPr>
              <a:t>Đề xuất Ý tưởng &amp; Thiết kế Hệ thống (không báo cáo kết quả hoàn chỉnh sớm).</a:t>
            </a:r>
          </a:p>
          <a:p>
            <a:pPr>
              <a:spcBef>
                <a:spcPts val="400"/>
              </a:spcBef>
            </a:pPr>
            <a:r>
              <a:rPr sz="950" b="1" i="0">
                <a:solidFill>
                  <a:srgbClr val="008080"/>
                </a:solidFill>
                <a:latin typeface="Calibri"/>
              </a:rPr>
              <a:t>★ Thời lượng chuẩn mực: </a:t>
            </a:r>
            <a:r>
              <a:rPr sz="900" b="0" i="0">
                <a:solidFill>
                  <a:srgbClr val="222222"/>
                </a:solidFill>
                <a:latin typeface="Calibri"/>
              </a:rPr>
              <a:t>12 - 15 phút theo đúng quy chế môn học IT3190 (Viện CNTT&amp;TT).</a:t>
            </a:r>
          </a:p>
          <a:p>
            <a:pPr>
              <a:spcBef>
                <a:spcPts val="400"/>
              </a:spcBef>
            </a:pPr>
            <a:r>
              <a:rPr sz="950" b="1" i="0">
                <a:solidFill>
                  <a:srgbClr val="008080"/>
                </a:solidFill>
                <a:latin typeface="Calibri"/>
              </a:rPr>
              <a:t>★ Mã nguồn chuẩn: </a:t>
            </a:r>
            <a:r>
              <a:rPr sz="900" b="0" i="0">
                <a:solidFill>
                  <a:srgbClr val="222222"/>
                </a:solidFill>
                <a:latin typeface="Calibri"/>
              </a:rPr>
              <a:t>Repo GitHub ViFND-Feature-Fusion tích hợp sẵn bộ test tự động.</a:t>
            </a:r>
          </a:p>
          <a:p>
            <a:pPr>
              <a:spcBef>
                <a:spcPts val="400"/>
              </a:spcBef>
            </a:pPr>
            <a:r>
              <a:rPr sz="950" b="1" i="0">
                <a:solidFill>
                  <a:srgbClr val="008080"/>
                </a:solidFill>
                <a:latin typeface="Calibri"/>
              </a:rPr>
              <a:t>★ Sản phẩm cam kết: </a:t>
            </a:r>
            <a:r>
              <a:rPr sz="900" b="0" i="0">
                <a:solidFill>
                  <a:srgbClr val="222222"/>
                </a:solidFill>
                <a:latin typeface="Calibri"/>
              </a:rPr>
              <a:t>Corpus sạch 4,000+ bài, Checkpoints mô hình, Web Gradio &lt; 1.5s.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320040"/>
          </a:xfrm>
          <a:prstGeom prst="rect">
            <a:avLst/>
          </a:prstGeom>
          <a:noFill/>
        </p:spPr>
        <p:txBody>
          <a:bodyPr wrap="square" lIns="0" tIns="0" rIns="0" bIns="0">
            <a:spAutoFit/>
          </a:bodyPr>
          <a:lstStyle/>
          <a:p>
            <a:r>
              <a:rPr sz="1000" b="1" i="0">
                <a:solidFill>
                  <a:srgbClr val="008080"/>
                </a:solidFill>
                <a:latin typeface="Calibri"/>
              </a:rPr>
              <a:t>ĐỒ ÁN MÔN HỌC IT3190 — HỌC MÁY &amp; KHAI PHÁ DỮ LIỆU  |  1. TÍNH CẤP THIẾT &amp; ĐIỂM NGHẼN HỌC THUẬT</a:t>
            </a:r>
          </a:p>
        </p:txBody>
      </p:sp>
      <p:sp>
        <p:nvSpPr>
          <p:cNvPr id="3" name="Rounded Rectangle 2"/>
          <p:cNvSpPr/>
          <p:nvPr/>
        </p:nvSpPr>
        <p:spPr>
          <a:xfrm>
            <a:off x="10271455" y="320040"/>
            <a:ext cx="1188720" cy="32004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B365D"/>
                </a:solidFill>
                <a:latin typeface="Calibri"/>
              </a:rPr>
              <a:t>SLIDE 02 / 08</a:t>
            </a:r>
          </a:p>
        </p:txBody>
      </p:sp>
      <p:sp>
        <p:nvSpPr>
          <p:cNvPr id="4" name="TextBox 3"/>
          <p:cNvSpPr txBox="1"/>
          <p:nvPr/>
        </p:nvSpPr>
        <p:spPr>
          <a:xfrm>
            <a:off x="731520" y="640080"/>
            <a:ext cx="10728655" cy="502920"/>
          </a:xfrm>
          <a:prstGeom prst="rect">
            <a:avLst/>
          </a:prstGeom>
          <a:noFill/>
        </p:spPr>
        <p:txBody>
          <a:bodyPr wrap="square" lIns="0" tIns="0" rIns="0" bIns="0">
            <a:spAutoFit/>
          </a:bodyPr>
          <a:lstStyle/>
          <a:p>
            <a:r>
              <a:rPr sz="2000" b="1" i="0">
                <a:solidFill>
                  <a:srgbClr val="1B365D"/>
                </a:solidFill>
                <a:latin typeface="Calibri"/>
              </a:rPr>
              <a:t>Bối Cảnh Bài Toán &amp; 3 'Điểm Mù' Cốt Tử Của Mô Hình Truyền Thống</a:t>
            </a:r>
          </a:p>
        </p:txBody>
      </p:sp>
      <p:sp>
        <p:nvSpPr>
          <p:cNvPr id="5" name="Rectangle 4"/>
          <p:cNvSpPr/>
          <p:nvPr/>
        </p:nvSpPr>
        <p:spPr>
          <a:xfrm>
            <a:off x="731520" y="1188720"/>
            <a:ext cx="10728655" cy="18288"/>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3364992" cy="5303520"/>
          </a:xfrm>
          <a:prstGeom prst="roundRect">
            <a:avLst/>
          </a:prstGeom>
          <a:solidFill>
            <a:srgbClr val="F4F6F9"/>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200" b="1" i="0">
                <a:solidFill>
                  <a:srgbClr val="C0392B"/>
                </a:solidFill>
                <a:latin typeface="Calibri"/>
              </a:rPr>
              <a:t>ĐIỂM MÙ 1: RÒ RỈ DO SAO CHÉP
(Content Syndication Leakage)</a:t>
            </a:r>
          </a:p>
          <a:p>
            <a:pPr>
              <a:spcBef>
                <a:spcPts val="600"/>
              </a:spcBef>
            </a:pPr>
            <a:r>
              <a:rPr sz="950" b="1" i="0">
                <a:solidFill>
                  <a:srgbClr val="1B365D"/>
                </a:solidFill>
                <a:latin typeface="Calibri"/>
              </a:rPr>
              <a:t>▶ Thực trạng không gian mạng:
</a:t>
            </a:r>
            <a:r>
              <a:rPr sz="900" b="0" i="0">
                <a:solidFill>
                  <a:srgbClr val="222222"/>
                </a:solidFill>
                <a:latin typeface="Calibri"/>
              </a:rPr>
              <a:t>Các trang lá cải, diễn đàn liên tục sao chép, xào xáo lại bài viết từ báo chính thống (thay đổi vài câu từ, giật lại tiêu đề).</a:t>
            </a:r>
          </a:p>
          <a:p>
            <a:pPr>
              <a:spcBef>
                <a:spcPts val="600"/>
              </a:spcBef>
            </a:pPr>
            <a:r>
              <a:rPr sz="950" b="1" i="0">
                <a:solidFill>
                  <a:srgbClr val="1B365D"/>
                </a:solidFill>
                <a:latin typeface="Calibri"/>
              </a:rPr>
              <a:t>▶ Lỗi kỹ thuật phổ biến:
</a:t>
            </a:r>
            <a:r>
              <a:rPr sz="900" b="0" i="0">
                <a:solidFill>
                  <a:srgbClr val="222222"/>
                </a:solidFill>
                <a:latin typeface="Calibri"/>
              </a:rPr>
              <a:t>Chia tập ngẫu nhiên (Random Train-Test Split) mà KHÔNG khử trùng lặp cấp độ ngữ nghĩa gần (Near-Duplicate).</a:t>
            </a:r>
          </a:p>
          <a:p>
            <a:pPr>
              <a:spcBef>
                <a:spcPts val="600"/>
              </a:spcBef>
            </a:pPr>
            <a:r>
              <a:rPr sz="950" b="1" i="0">
                <a:solidFill>
                  <a:srgbClr val="1B365D"/>
                </a:solidFill>
                <a:latin typeface="Calibri"/>
              </a:rPr>
              <a:t>▶ Hậu quả nghiêm trọng:
</a:t>
            </a:r>
            <a:r>
              <a:rPr sz="900" b="0" i="0">
                <a:solidFill>
                  <a:srgbClr val="222222"/>
                </a:solidFill>
                <a:latin typeface="Calibri"/>
              </a:rPr>
              <a:t>Cùng một bài báo xào lại xuất hiện ở cả Train và Test -&gt; Điểm F1 ảo vọt lên 98-99%, nhưng mô hình chỉ 'học vẹt' bản ghi cũ thay vì học cách tổng quát hóa.</a:t>
            </a:r>
          </a:p>
          <a:p>
            <a:pPr>
              <a:spcBef>
                <a:spcPts val="600"/>
              </a:spcBef>
            </a:pPr>
            <a:r>
              <a:rPr sz="950" b="1" i="0">
                <a:solidFill>
                  <a:srgbClr val="1B365D"/>
                </a:solidFill>
                <a:latin typeface="Calibri"/>
              </a:rPr>
              <a:t>▶ Giải pháp đề xuất:
</a:t>
            </a:r>
            <a:r>
              <a:rPr sz="900" b="0" i="0">
                <a:solidFill>
                  <a:srgbClr val="222222"/>
                </a:solidFill>
                <a:latin typeface="Calibri"/>
              </a:rPr>
              <a:t>Ứng dụng MinHash (128 hàm băm) kết hợp LSH Indexing (Jaccard &gt; 0.85) để triệt tiêu toàn bộ bài báo xào nấu trước khi chia tập dữ liệu.</a:t>
            </a:r>
          </a:p>
        </p:txBody>
      </p:sp>
      <p:sp>
        <p:nvSpPr>
          <p:cNvPr id="7" name="Rounded Rectangle 6"/>
          <p:cNvSpPr/>
          <p:nvPr/>
        </p:nvSpPr>
        <p:spPr>
          <a:xfrm>
            <a:off x="4407408" y="1325880"/>
            <a:ext cx="3364992" cy="5303520"/>
          </a:xfrm>
          <a:prstGeom prst="roundRect">
            <a:avLst/>
          </a:prstGeom>
          <a:solidFill>
            <a:srgbClr val="F4F6F9"/>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200" b="1" i="0">
                <a:solidFill>
                  <a:srgbClr val="008080"/>
                </a:solidFill>
                <a:latin typeface="Calibri"/>
              </a:rPr>
              <a:t>ĐIỂM MÙ 2: 'MÙ' HÌNH THỨC
(Stylistic Blindness)</a:t>
            </a:r>
          </a:p>
          <a:p>
            <a:pPr>
              <a:spcBef>
                <a:spcPts val="600"/>
              </a:spcBef>
            </a:pPr>
            <a:r>
              <a:rPr sz="950" b="1" i="0">
                <a:solidFill>
                  <a:srgbClr val="1B365D"/>
                </a:solidFill>
                <a:latin typeface="Calibri"/>
              </a:rPr>
              <a:t>▶ Bẫy trùng lặp từ vựng:
</a:t>
            </a:r>
            <a:r>
              <a:rPr sz="900" b="0" i="0">
                <a:solidFill>
                  <a:srgbClr val="222222"/>
                </a:solidFill>
                <a:latin typeface="Calibri"/>
              </a:rPr>
              <a:t>Bài báo chính thống điều tra vụ án lừa đảo và bài viết bịa đặt giật gân có chung 85% từ vựng ('công an', 'bắt giữ', 'lừa đảo', 'tiền ảo').</a:t>
            </a:r>
          </a:p>
          <a:p>
            <a:pPr>
              <a:spcBef>
                <a:spcPts val="600"/>
              </a:spcBef>
            </a:pPr>
            <a:r>
              <a:rPr sz="950" b="1" i="0">
                <a:solidFill>
                  <a:srgbClr val="1B365D"/>
                </a:solidFill>
                <a:latin typeface="Calibri"/>
              </a:rPr>
              <a:t>▶ Lỗi kỹ thuật phổ biến:
</a:t>
            </a:r>
            <a:r>
              <a:rPr sz="900" b="0" i="0">
                <a:solidFill>
                  <a:srgbClr val="222222"/>
                </a:solidFill>
                <a:latin typeface="Calibri"/>
              </a:rPr>
              <a:t>Mô hình Pre-trained Transformer (BERT/PhoBERT) chỉ chú trọng ngữ nghĩa từ vựng mà hoàn toàn 'mù' trước hình thức trình bày bề mặt.</a:t>
            </a:r>
          </a:p>
          <a:p>
            <a:pPr>
              <a:spcBef>
                <a:spcPts val="600"/>
              </a:spcBef>
            </a:pPr>
            <a:r>
              <a:rPr sz="950" b="1" i="0">
                <a:solidFill>
                  <a:srgbClr val="1B365D"/>
                </a:solidFill>
                <a:latin typeface="Calibri"/>
              </a:rPr>
              <a:t>▶ Hậu quả nghiêm trọng:
</a:t>
            </a:r>
            <a:r>
              <a:rPr sz="900" b="0" i="0">
                <a:solidFill>
                  <a:srgbClr val="222222"/>
                </a:solidFill>
                <a:latin typeface="Calibri"/>
              </a:rPr>
              <a:t>Mô hình bị đánh lừa bởi từ vựng giống nhau; bỏ qua mật độ dấu !, ?, viết IN HOA toàn bộ, và tỷ lệ tiêu đề dài bất thường so với thân bài.</a:t>
            </a:r>
          </a:p>
          <a:p>
            <a:pPr>
              <a:spcBef>
                <a:spcPts val="600"/>
              </a:spcBef>
            </a:pPr>
            <a:r>
              <a:rPr sz="950" b="1" i="0">
                <a:solidFill>
                  <a:srgbClr val="1B365D"/>
                </a:solidFill>
                <a:latin typeface="Calibri"/>
              </a:rPr>
              <a:t>▶ Giải pháp đề xuất:
</a:t>
            </a:r>
            <a:r>
              <a:rPr sz="900" b="0" i="0">
                <a:solidFill>
                  <a:srgbClr val="222222"/>
                </a:solidFill>
                <a:latin typeface="Calibri"/>
              </a:rPr>
              <a:t>Trích xuất riêng nhánh 15 đặc trưng Stylometrics (hình thức, cấu trúc, dấu câu, cảm thán) bổ trợ trực giao cho vector ngữ nghĩa PhoBERT.</a:t>
            </a:r>
          </a:p>
        </p:txBody>
      </p:sp>
      <p:sp>
        <p:nvSpPr>
          <p:cNvPr id="8" name="Rounded Rectangle 7"/>
          <p:cNvSpPr/>
          <p:nvPr/>
        </p:nvSpPr>
        <p:spPr>
          <a:xfrm>
            <a:off x="8083296" y="1325880"/>
            <a:ext cx="3364992" cy="5303520"/>
          </a:xfrm>
          <a:prstGeom prst="roundRect">
            <a:avLst/>
          </a:prstGeom>
          <a:solidFill>
            <a:srgbClr val="F4F6F9"/>
          </a:solidFill>
          <a:ln w="1905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200" b="1" i="0">
                <a:solidFill>
                  <a:srgbClr val="1B365D"/>
                </a:solidFill>
                <a:latin typeface="Calibri"/>
              </a:rPr>
              <a:t>ĐIỂM MÙ 3: BẪY 'HỘP ĐEN'
(Black-Box Predictions)</a:t>
            </a:r>
          </a:p>
          <a:p>
            <a:pPr>
              <a:spcBef>
                <a:spcPts val="600"/>
              </a:spcBef>
            </a:pPr>
            <a:r>
              <a:rPr sz="950" b="1" i="0">
                <a:solidFill>
                  <a:srgbClr val="1B365D"/>
                </a:solidFill>
                <a:latin typeface="Calibri"/>
              </a:rPr>
              <a:t>▶ Yêu cầu thực tiễn:
</a:t>
            </a:r>
            <a:r>
              <a:rPr sz="900" b="0" i="0">
                <a:solidFill>
                  <a:srgbClr val="222222"/>
                </a:solidFill>
                <a:latin typeface="Calibri"/>
              </a:rPr>
              <a:t>Gắn cờ một bài viết là 'Tin giả' tác động trực tiếp đến uy tín pháp lý của tác giả, tòa soạn báo và trải nghiệm người dùng mạng.</a:t>
            </a:r>
          </a:p>
          <a:p>
            <a:pPr>
              <a:spcBef>
                <a:spcPts val="600"/>
              </a:spcBef>
            </a:pPr>
            <a:r>
              <a:rPr sz="950" b="1" i="0">
                <a:solidFill>
                  <a:srgbClr val="1B365D"/>
                </a:solidFill>
                <a:latin typeface="Calibri"/>
              </a:rPr>
              <a:t>▶ Lỗi kỹ thuật phổ biến:
</a:t>
            </a:r>
            <a:r>
              <a:rPr sz="900" b="0" i="0">
                <a:solidFill>
                  <a:srgbClr val="222222"/>
                </a:solidFill>
                <a:latin typeface="Calibri"/>
              </a:rPr>
              <a:t>Các mô hình nơ-ron sâu thông thường chỉ trả về con số nhãn khô khốc (0 hoặc 1) kèm xác suất mà không thể giải thích nguyên nhân.</a:t>
            </a:r>
          </a:p>
          <a:p>
            <a:pPr>
              <a:spcBef>
                <a:spcPts val="600"/>
              </a:spcBef>
            </a:pPr>
            <a:r>
              <a:rPr sz="950" b="1" i="0">
                <a:solidFill>
                  <a:srgbClr val="1B365D"/>
                </a:solidFill>
                <a:latin typeface="Calibri"/>
              </a:rPr>
              <a:t>▶ Hậu quả nghiêm trọng:
</a:t>
            </a:r>
            <a:r>
              <a:rPr sz="900" b="0" i="0">
                <a:solidFill>
                  <a:srgbClr val="222222"/>
                </a:solidFill>
                <a:latin typeface="Calibri"/>
              </a:rPr>
              <a:t>Hội đồng kiểm duyệt và người dùng không tin cậy mô hình 'hộp đen'; không thể ứng dụng vào các hệ thống kiểm chứng tin tức thực tế.</a:t>
            </a:r>
          </a:p>
          <a:p>
            <a:pPr>
              <a:spcBef>
                <a:spcPts val="600"/>
              </a:spcBef>
            </a:pPr>
            <a:r>
              <a:rPr sz="950" b="1" i="0">
                <a:solidFill>
                  <a:srgbClr val="1B365D"/>
                </a:solidFill>
                <a:latin typeface="Calibri"/>
              </a:rPr>
              <a:t>▶ Giải pháp đề xuất:
</a:t>
            </a:r>
            <a:r>
              <a:rPr sz="900" b="0" i="0">
                <a:solidFill>
                  <a:srgbClr val="222222"/>
                </a:solidFill>
                <a:latin typeface="Calibri"/>
              </a:rPr>
              <a:t>Tích hợp SHAP TreeExplainer, bóc tách chính xác % đóng góp của từng đặc trưng (dấu câu, từ khóa kích động hay ngữ cảnh) trong &lt; 1.5s.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320040"/>
          </a:xfrm>
          <a:prstGeom prst="rect">
            <a:avLst/>
          </a:prstGeom>
          <a:noFill/>
        </p:spPr>
        <p:txBody>
          <a:bodyPr wrap="square" lIns="0" tIns="0" rIns="0" bIns="0">
            <a:spAutoFit/>
          </a:bodyPr>
          <a:lstStyle/>
          <a:p>
            <a:r>
              <a:rPr sz="1000" b="1" i="0">
                <a:solidFill>
                  <a:srgbClr val="008080"/>
                </a:solidFill>
                <a:latin typeface="Calibri"/>
              </a:rPr>
              <a:t>ĐỒ ÁN MÔN HỌC IT3190 — HỌC MÁY &amp; KHAI PHÁ DỮ LIỆU  |  2. Ý TƯỞNG CỐT LÕI &amp; KIẾN TRÚC HỆ THỐNG</a:t>
            </a:r>
          </a:p>
        </p:txBody>
      </p:sp>
      <p:sp>
        <p:nvSpPr>
          <p:cNvPr id="3" name="Rounded Rectangle 2"/>
          <p:cNvSpPr/>
          <p:nvPr/>
        </p:nvSpPr>
        <p:spPr>
          <a:xfrm>
            <a:off x="10271455" y="320040"/>
            <a:ext cx="1188720" cy="32004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B365D"/>
                </a:solidFill>
                <a:latin typeface="Calibri"/>
              </a:rPr>
              <a:t>SLIDE 03 / 08</a:t>
            </a:r>
          </a:p>
        </p:txBody>
      </p:sp>
      <p:sp>
        <p:nvSpPr>
          <p:cNvPr id="4" name="TextBox 3"/>
          <p:cNvSpPr txBox="1"/>
          <p:nvPr/>
        </p:nvSpPr>
        <p:spPr>
          <a:xfrm>
            <a:off x="731520" y="640080"/>
            <a:ext cx="10728655" cy="502920"/>
          </a:xfrm>
          <a:prstGeom prst="rect">
            <a:avLst/>
          </a:prstGeom>
          <a:noFill/>
        </p:spPr>
        <p:txBody>
          <a:bodyPr wrap="square" lIns="0" tIns="0" rIns="0" bIns="0">
            <a:spAutoFit/>
          </a:bodyPr>
          <a:lstStyle/>
          <a:p>
            <a:r>
              <a:rPr sz="2000" b="1" i="0">
                <a:solidFill>
                  <a:srgbClr val="1B365D"/>
                </a:solidFill>
                <a:latin typeface="Calibri"/>
              </a:rPr>
              <a:t>Giải Pháp Đề Xuất: Kiến Trúc Hợp Nhất Đặc Trưng Muộn (Late Feature Fusion)</a:t>
            </a:r>
          </a:p>
        </p:txBody>
      </p:sp>
      <p:sp>
        <p:nvSpPr>
          <p:cNvPr id="5" name="Rectangle 4"/>
          <p:cNvSpPr/>
          <p:nvPr/>
        </p:nvSpPr>
        <p:spPr>
          <a:xfrm>
            <a:off x="731520" y="1188720"/>
            <a:ext cx="10728655" cy="18288"/>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728655" cy="205740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10332720" cy="274320"/>
          </a:xfrm>
          <a:prstGeom prst="rect">
            <a:avLst/>
          </a:prstGeom>
          <a:noFill/>
        </p:spPr>
        <p:txBody>
          <a:bodyPr wrap="none" lIns="0" tIns="0" rIns="0" bIns="0">
            <a:spAutoFit/>
          </a:bodyPr>
          <a:lstStyle/>
          <a:p>
            <a:r>
              <a:rPr sz="1050" b="1" i="0">
                <a:solidFill>
                  <a:srgbClr val="1B365D"/>
                </a:solidFill>
                <a:latin typeface="Calibri"/>
              </a:rPr>
              <a:t>SƠ ĐỒ LUỒNG KIẾN TRÚC HỢP NHẤT ĐẶC TRƯNG MUỘN (END-TO-END FUSION PIPELINE)</a:t>
            </a:r>
          </a:p>
        </p:txBody>
      </p:sp>
      <p:sp>
        <p:nvSpPr>
          <p:cNvPr id="8" name="Rounded Rectangle 7"/>
          <p:cNvSpPr/>
          <p:nvPr/>
        </p:nvSpPr>
        <p:spPr>
          <a:xfrm>
            <a:off x="914400" y="1691640"/>
            <a:ext cx="1828800" cy="150876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FFFFFF"/>
                </a:solidFill>
                <a:latin typeface="Calibri"/>
              </a:rPr>
              <a:t>BÀI BÁO ĐẦU VÀO</a:t>
            </a:r>
          </a:p>
          <a:p>
            <a:pPr algn="ctr">
              <a:spcBef>
                <a:spcPts val="200"/>
              </a:spcBef>
            </a:pPr>
            <a:r>
              <a:rPr sz="850" b="0" i="0">
                <a:solidFill>
                  <a:srgbClr val="F4F6F9"/>
                </a:solidFill>
                <a:latin typeface="Calibri"/>
              </a:rPr>
              <a:t>Tiêu đề + Thân bài
(Đã tẩy bias nguồn &amp; NFC)</a:t>
            </a:r>
          </a:p>
        </p:txBody>
      </p:sp>
      <p:sp>
        <p:nvSpPr>
          <p:cNvPr id="9" name="Right Arrow 8"/>
          <p:cNvSpPr/>
          <p:nvPr/>
        </p:nvSpPr>
        <p:spPr>
          <a:xfrm>
            <a:off x="2816352" y="1965960"/>
            <a:ext cx="219456" cy="164592"/>
          </a:xfrm>
          <a:prstGeom prst="rightArrow">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2816352" y="2697480"/>
            <a:ext cx="219456" cy="164592"/>
          </a:xfrm>
          <a:prstGeom prst="rightArrow">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90672" y="1691640"/>
            <a:ext cx="2423160" cy="713232"/>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FFFFFF"/>
                </a:solidFill>
                <a:latin typeface="Calibri"/>
              </a:rPr>
              <a:t>LUỒNG 1: STYLOMETRICS (15D)</a:t>
            </a:r>
          </a:p>
          <a:p>
            <a:pPr algn="ctr">
              <a:spcBef>
                <a:spcPts val="200"/>
              </a:spcBef>
            </a:pPr>
            <a:r>
              <a:rPr sz="850" b="0" i="0">
                <a:solidFill>
                  <a:srgbClr val="FFFFFF"/>
                </a:solidFill>
                <a:latin typeface="Calibri"/>
              </a:rPr>
              <a:t>Quét 100% toàn văn: Dấu câu, IN HOA, Lexicon</a:t>
            </a:r>
          </a:p>
        </p:txBody>
      </p:sp>
      <p:sp>
        <p:nvSpPr>
          <p:cNvPr id="12" name="Rounded Rectangle 11"/>
          <p:cNvSpPr/>
          <p:nvPr/>
        </p:nvSpPr>
        <p:spPr>
          <a:xfrm>
            <a:off x="3090672" y="2487168"/>
            <a:ext cx="2423160" cy="713232"/>
          </a:xfrm>
          <a:prstGeom prst="roundRect">
            <a:avLst/>
          </a:prstGeom>
          <a:solidFill>
            <a:srgbClr val="0F203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FFFFFF"/>
                </a:solidFill>
                <a:latin typeface="Calibri"/>
              </a:rPr>
              <a:t>LUỒNG 2: PHOBERT BASE v2 (768D)</a:t>
            </a:r>
          </a:p>
          <a:p>
            <a:pPr algn="ctr">
              <a:spcBef>
                <a:spcPts val="200"/>
              </a:spcBef>
            </a:pPr>
            <a:r>
              <a:rPr sz="850" b="0" i="0">
                <a:solidFill>
                  <a:srgbClr val="F4F6F9"/>
                </a:solidFill>
                <a:latin typeface="Calibri"/>
              </a:rPr>
              <a:t>PyVi tách từ + Head-Tail 256 + Mean Pooling</a:t>
            </a:r>
          </a:p>
        </p:txBody>
      </p:sp>
      <p:sp>
        <p:nvSpPr>
          <p:cNvPr id="13" name="Right Arrow 12"/>
          <p:cNvSpPr/>
          <p:nvPr/>
        </p:nvSpPr>
        <p:spPr>
          <a:xfrm>
            <a:off x="5577840" y="1965960"/>
            <a:ext cx="219456" cy="164592"/>
          </a:xfrm>
          <a:prstGeom prst="rightArrow">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5577840" y="2697480"/>
            <a:ext cx="219456" cy="164592"/>
          </a:xfrm>
          <a:prstGeom prst="rightArrow">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852160" y="1691640"/>
            <a:ext cx="2148840" cy="1508760"/>
          </a:xfrm>
          <a:prstGeom prst="roundRect">
            <a:avLst/>
          </a:prstGeom>
          <a:solidFill>
            <a:srgbClr val="FFFFFF"/>
          </a:solidFill>
          <a:ln w="1524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008080"/>
                </a:solidFill>
                <a:latin typeface="Calibri"/>
              </a:rPr>
              <a:t>HỢP NHẤT ĐẶC TRƯNG (783D)</a:t>
            </a:r>
          </a:p>
          <a:p>
            <a:pPr algn="ctr">
              <a:spcBef>
                <a:spcPts val="200"/>
              </a:spcBef>
            </a:pPr>
            <a:r>
              <a:rPr sz="850" b="0" i="0">
                <a:solidFill>
                  <a:srgbClr val="222222"/>
                </a:solidFill>
                <a:latin typeface="Calibri"/>
              </a:rPr>
              <a:t>Ghép nối ma trận:
[ 768D Ngữ nghĩa sâu ||
15D Phong cách hình thức ]
(Chuẩn hóa L2 &amp; Z-score)</a:t>
            </a:r>
          </a:p>
        </p:txBody>
      </p:sp>
      <p:sp>
        <p:nvSpPr>
          <p:cNvPr id="16" name="Right Arrow 15"/>
          <p:cNvSpPr/>
          <p:nvPr/>
        </p:nvSpPr>
        <p:spPr>
          <a:xfrm>
            <a:off x="8065008" y="2331720"/>
            <a:ext cx="219456" cy="164592"/>
          </a:xfrm>
          <a:prstGeom prst="rightArrow">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39327" y="1691640"/>
            <a:ext cx="1691640" cy="1508760"/>
          </a:xfrm>
          <a:prstGeom prst="roundRect">
            <a:avLst/>
          </a:prstGeom>
          <a:solidFill>
            <a:srgbClr val="F4F6F9"/>
          </a:solidFill>
          <a:ln w="1524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1B365D"/>
                </a:solidFill>
                <a:latin typeface="Calibri"/>
              </a:rPr>
              <a:t>BỘ PHÂN LOẠI</a:t>
            </a:r>
          </a:p>
          <a:p>
            <a:pPr algn="ctr">
              <a:spcBef>
                <a:spcPts val="200"/>
              </a:spcBef>
            </a:pPr>
            <a:r>
              <a:rPr sz="850" b="0" i="0">
                <a:solidFill>
                  <a:srgbClr val="222222"/>
                </a:solidFill>
                <a:latin typeface="Calibri"/>
              </a:rPr>
              <a:t>XGBoost Classifier
(Optuna 50 trials)
----
PyTorch Dual-Stream
Neural Network</a:t>
            </a:r>
          </a:p>
        </p:txBody>
      </p:sp>
      <p:sp>
        <p:nvSpPr>
          <p:cNvPr id="18" name="Right Arrow 17"/>
          <p:cNvSpPr/>
          <p:nvPr/>
        </p:nvSpPr>
        <p:spPr>
          <a:xfrm>
            <a:off x="10094976" y="2331720"/>
            <a:ext cx="219456" cy="164592"/>
          </a:xfrm>
          <a:prstGeom prst="rightArrow">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369296" y="1691640"/>
            <a:ext cx="960120" cy="150876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FFFFFF"/>
                </a:solidFill>
                <a:latin typeface="Calibri"/>
              </a:rPr>
              <a:t>KẾT QUẢ
&amp; XAI</a:t>
            </a:r>
          </a:p>
          <a:p>
            <a:pPr algn="ctr">
              <a:spcBef>
                <a:spcPts val="200"/>
              </a:spcBef>
            </a:pPr>
            <a:r>
              <a:rPr sz="850" b="0" i="0">
                <a:solidFill>
                  <a:srgbClr val="F4F6F9"/>
                </a:solidFill>
                <a:latin typeface="Calibri"/>
              </a:rPr>
              <a:t>Nhãn 0/1
(Fake %)
----
SHAP
Waterfall</a:t>
            </a:r>
          </a:p>
        </p:txBody>
      </p:sp>
      <p:sp>
        <p:nvSpPr>
          <p:cNvPr id="20" name="Rounded Rectangle 19"/>
          <p:cNvSpPr/>
          <p:nvPr/>
        </p:nvSpPr>
        <p:spPr>
          <a:xfrm>
            <a:off x="731520" y="3520440"/>
            <a:ext cx="5212080" cy="3063240"/>
          </a:xfrm>
          <a:prstGeom prst="roundRect">
            <a:avLst/>
          </a:prstGeom>
          <a:solidFill>
            <a:srgbClr val="F4F6F9"/>
          </a:solidFill>
          <a:ln w="1524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r>
              <a:rPr sz="1150" b="1" i="0">
                <a:solidFill>
                  <a:srgbClr val="008080"/>
                </a:solidFill>
                <a:latin typeface="Calibri"/>
              </a:rPr>
              <a:t>LUỒNG 1: 'THÁM TỬ HÌNH THỨC' (STYLOMETRICS - 15D)
</a:t>
            </a:r>
          </a:p>
          <a:p>
            <a:pPr>
              <a:spcBef>
                <a:spcPts val="300"/>
              </a:spcBef>
            </a:pPr>
            <a:r>
              <a:rPr sz="900" b="0" i="0">
                <a:solidFill>
                  <a:srgbClr val="222222"/>
                </a:solidFill>
                <a:latin typeface="Calibri"/>
              </a:rPr>
              <a:t>• Phạm vi quét: 100% toàn văn bài báo từ đầu đến cuối (không bị giới hạn độ dài token).</a:t>
            </a:r>
          </a:p>
          <a:p>
            <a:pPr>
              <a:spcBef>
                <a:spcPts val="300"/>
              </a:spcBef>
            </a:pPr>
            <a:r>
              <a:rPr sz="900" b="0" i="0">
                <a:solidFill>
                  <a:srgbClr val="222222"/>
                </a:solidFill>
                <a:latin typeface="Calibri"/>
              </a:rPr>
              <a:t>• Trọng tâm phân tích: Bắt trọn hành vi viết giật gân, khẩn cấp và câu view bề mặt.</a:t>
            </a:r>
          </a:p>
          <a:p>
            <a:pPr>
              <a:spcBef>
                <a:spcPts val="300"/>
              </a:spcBef>
            </a:pPr>
            <a:r>
              <a:rPr sz="900" b="0" i="0">
                <a:solidFill>
                  <a:srgbClr val="222222"/>
                </a:solidFill>
                <a:latin typeface="Calibri"/>
              </a:rPr>
              <a:t>• 15 Chỉ số toán học: Mật độ dấu câu (!, ?, ", : -), tỷ lệ chữ viết IN HOA toàn bộ, độ lệch tiêu đề/thân bài, từ điển kích động cảm xúc ('chấn động', '100%').</a:t>
            </a:r>
          </a:p>
          <a:p>
            <a:pPr>
              <a:spcBef>
                <a:spcPts val="300"/>
              </a:spcBef>
            </a:pPr>
            <a:r>
              <a:rPr sz="900" b="0" i="0">
                <a:solidFill>
                  <a:srgbClr val="222222"/>
                </a:solidFill>
                <a:latin typeface="Calibri"/>
              </a:rPr>
              <a:t>• Chi phí tính toán: Cực nhẹ (&lt; 2ms / bài viết trên CPU máy tính cá nhân).</a:t>
            </a:r>
          </a:p>
          <a:p>
            <a:pPr>
              <a:spcBef>
                <a:spcPts val="300"/>
              </a:spcBef>
            </a:pPr>
            <a:r>
              <a:rPr sz="900" b="0" i="0">
                <a:solidFill>
                  <a:srgbClr val="222222"/>
                </a:solidFill>
                <a:latin typeface="Calibri"/>
              </a:rPr>
              <a:t>• Giá trị thặng dư: Vô hiệu hóa 'Bẫy trùng lặp từ vựng' mà mô hình ngôn ngữ lớn mắc phải.</a:t>
            </a:r>
          </a:p>
        </p:txBody>
      </p:sp>
      <p:sp>
        <p:nvSpPr>
          <p:cNvPr id="21" name="Rounded Rectangle 20"/>
          <p:cNvSpPr/>
          <p:nvPr/>
        </p:nvSpPr>
        <p:spPr>
          <a:xfrm>
            <a:off x="6248095" y="3520440"/>
            <a:ext cx="5212080" cy="3063240"/>
          </a:xfrm>
          <a:prstGeom prst="roundRect">
            <a:avLst/>
          </a:prstGeom>
          <a:solidFill>
            <a:srgbClr val="F4F6F9"/>
          </a:solidFill>
          <a:ln w="1524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r>
              <a:rPr sz="1150" b="1" i="0">
                <a:solidFill>
                  <a:srgbClr val="1B365D"/>
                </a:solidFill>
                <a:latin typeface="Calibri"/>
              </a:rPr>
              <a:t>LUỒNG 2: 'CHUYÊN GIA NGỮ NGHĨA' (PHOBERT - 768D)
</a:t>
            </a:r>
          </a:p>
          <a:p>
            <a:pPr>
              <a:spcBef>
                <a:spcPts val="300"/>
              </a:spcBef>
            </a:pPr>
            <a:r>
              <a:rPr sz="900" b="0" i="0">
                <a:solidFill>
                  <a:srgbClr val="222222"/>
                </a:solidFill>
                <a:latin typeface="Calibri"/>
              </a:rPr>
              <a:t>• Mô hình nền tảng: vinai/phobert-base-v2 (mô hình Transformer tối tân cho tiếng Việt).</a:t>
            </a:r>
          </a:p>
          <a:p>
            <a:pPr>
              <a:spcBef>
                <a:spcPts val="300"/>
              </a:spcBef>
            </a:pPr>
            <a:r>
              <a:rPr sz="900" b="0" i="0">
                <a:solidFill>
                  <a:srgbClr val="222222"/>
                </a:solidFill>
                <a:latin typeface="Calibri"/>
              </a:rPr>
              <a:t>• Tiền xử lý từ ghép: Tách từ PyVi bắt buộc ('học_sinh', 'chấn_động') trước khi nạp tokenizer.</a:t>
            </a:r>
          </a:p>
          <a:p>
            <a:pPr>
              <a:spcBef>
                <a:spcPts val="300"/>
              </a:spcBef>
            </a:pPr>
            <a:r>
              <a:rPr sz="900" b="0" i="0">
                <a:solidFill>
                  <a:srgbClr val="222222"/>
                </a:solidFill>
                <a:latin typeface="Calibri"/>
              </a:rPr>
              <a:t>• Chiến lược Head-Tail Truncation: Lấy 128 tokens đầu (Tiêu đề + Lede 5W1H) ghép 128 tokens cuối (Kết luận, cơ quan ngôn luận) để vừa trọn giới hạn 256 tokens mà không mất ý.</a:t>
            </a:r>
          </a:p>
          <a:p>
            <a:pPr>
              <a:spcBef>
                <a:spcPts val="300"/>
              </a:spcBef>
            </a:pPr>
            <a:r>
              <a:rPr sz="900" b="0" i="0">
                <a:solidFill>
                  <a:srgbClr val="222222"/>
                </a:solidFill>
                <a:latin typeface="Calibri"/>
              </a:rPr>
              <a:t>• Pooling &amp; Chuẩn hóa: Attention-Masked Mean Pooling + Chuẩn hóa vector đơn vị L2.</a:t>
            </a:r>
          </a:p>
          <a:p>
            <a:pPr>
              <a:spcBef>
                <a:spcPts val="300"/>
              </a:spcBef>
            </a:pPr>
            <a:r>
              <a:rPr sz="900" b="0" i="0">
                <a:solidFill>
                  <a:srgbClr val="222222"/>
                </a:solidFill>
                <a:latin typeface="Calibri"/>
              </a:rPr>
              <a:t>• Tối ưu tài nguyên: Đóng băng 10 tầng đầu, chỉ tinh chỉnh nhẹ Layer 10 &amp; 11 trên Colab 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320040"/>
          </a:xfrm>
          <a:prstGeom prst="rect">
            <a:avLst/>
          </a:prstGeom>
          <a:noFill/>
        </p:spPr>
        <p:txBody>
          <a:bodyPr wrap="square" lIns="0" tIns="0" rIns="0" bIns="0">
            <a:spAutoFit/>
          </a:bodyPr>
          <a:lstStyle/>
          <a:p>
            <a:r>
              <a:rPr sz="1000" b="1" i="0">
                <a:solidFill>
                  <a:srgbClr val="008080"/>
                </a:solidFill>
                <a:latin typeface="Calibri"/>
              </a:rPr>
              <a:t>ĐỒ ÁN MÔN HỌC IT3190 — HỌC MÁY &amp; KHAI PHÁ DỮ LIỆU  |  3. KHAI PHÁ DỮ LIỆU &amp; TIỀN XỬ LÝ KỸ THUẬT CAO</a:t>
            </a:r>
          </a:p>
        </p:txBody>
      </p:sp>
      <p:sp>
        <p:nvSpPr>
          <p:cNvPr id="3" name="Rounded Rectangle 2"/>
          <p:cNvSpPr/>
          <p:nvPr/>
        </p:nvSpPr>
        <p:spPr>
          <a:xfrm>
            <a:off x="10271455" y="320040"/>
            <a:ext cx="1188720" cy="32004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B365D"/>
                </a:solidFill>
                <a:latin typeface="Calibri"/>
              </a:rPr>
              <a:t>SLIDE 04 / 08</a:t>
            </a:r>
          </a:p>
        </p:txBody>
      </p:sp>
      <p:sp>
        <p:nvSpPr>
          <p:cNvPr id="4" name="TextBox 3"/>
          <p:cNvSpPr txBox="1"/>
          <p:nvPr/>
        </p:nvSpPr>
        <p:spPr>
          <a:xfrm>
            <a:off x="731520" y="640080"/>
            <a:ext cx="10728655" cy="502920"/>
          </a:xfrm>
          <a:prstGeom prst="rect">
            <a:avLst/>
          </a:prstGeom>
          <a:noFill/>
        </p:spPr>
        <p:txBody>
          <a:bodyPr wrap="square" lIns="0" tIns="0" rIns="0" bIns="0">
            <a:spAutoFit/>
          </a:bodyPr>
          <a:lstStyle/>
          <a:p>
            <a:r>
              <a:rPr sz="2000" b="1" i="0">
                <a:solidFill>
                  <a:srgbClr val="1B365D"/>
                </a:solidFill>
                <a:latin typeface="Calibri"/>
              </a:rPr>
              <a:t>Quy Trình Khai Phá Dữ Liệu Nâng Cao &amp; Khử Trùng Lặp MinHash LSH</a:t>
            </a:r>
          </a:p>
        </p:txBody>
      </p:sp>
      <p:sp>
        <p:nvSpPr>
          <p:cNvPr id="5" name="Rectangle 4"/>
          <p:cNvSpPr/>
          <p:nvPr/>
        </p:nvSpPr>
        <p:spPr>
          <a:xfrm>
            <a:off x="731520" y="1188720"/>
            <a:ext cx="10728655" cy="18288"/>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728655" cy="1645920"/>
          </a:xfrm>
          <a:prstGeom prst="roundRect">
            <a:avLst/>
          </a:prstGeom>
          <a:solidFill>
            <a:srgbClr val="F4F6F9"/>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wrap="square" lIns="1737360" rIns="228600" tIns="137160"/>
          <a:lstStyle/>
          <a:p>
            <a:pPr algn="ctr"/>
            <a:r>
              <a:rPr sz="1100" b="1" i="0">
                <a:solidFill>
                  <a:srgbClr val="1B365D"/>
                </a:solidFill>
                <a:latin typeface="Calibri"/>
              </a:rPr>
              <a:t>BƯỚC 1: THU THẬP ĐA NGUỒN CÂN BẰNG (MULTI-SOURCE HARVESTING — MỤC TIÊU 4,000+ BÀI)</a:t>
            </a:r>
          </a:p>
          <a:p>
            <a:pPr>
              <a:spcBef>
                <a:spcPts val="300"/>
              </a:spcBef>
            </a:pPr>
            <a:r>
              <a:rPr sz="950" b="1" i="0">
                <a:solidFill>
                  <a:srgbClr val="27AE60"/>
                </a:solidFill>
                <a:latin typeface="Calibri"/>
              </a:rPr>
              <a:t>• Nhãn Thật (Class 0 - 50%): </a:t>
            </a:r>
            <a:r>
              <a:rPr sz="900" b="0" i="0">
                <a:solidFill>
                  <a:srgbClr val="222222"/>
                </a:solidFill>
                <a:latin typeface="Calibri"/>
              </a:rPr>
              <a:t>Cào tự động qua kênh RSS chuẩn của các báo chính thống uy tín (VnExpress, Tuổi Trẻ, VietnamNet) thuộc đa dạng chủ đề (Thời sự, Pháp luật, Kinh tế, Sức khỏe) kết hợp bộ chuẩn học thuật VLSP 2020 ReINTEL.
</a:t>
            </a:r>
            <a:r>
              <a:rPr sz="950" b="1" i="0">
                <a:solidFill>
                  <a:srgbClr val="C0392B"/>
                </a:solidFill>
                <a:latin typeface="Calibri"/>
              </a:rPr>
              <a:t>• Nhãn Giả / Giật gân (Class 1 - 50%): </a:t>
            </a:r>
            <a:r>
              <a:rPr sz="900" b="0" i="0">
                <a:solidFill>
                  <a:srgbClr val="222222"/>
                </a:solidFill>
                <a:latin typeface="Calibri"/>
              </a:rPr>
              <a:t>Tập hợp từ bộ dữ liệu mở kiểm duyệt (VFND, ViFactCheck) + Cào có chọn lọc từ các blog tin lá cải, bài thuốc chữa bệnh phản khoa học + Khôi phục nguồn tin giả từ Cổng Thông tin VAFC (tingia.gov.vn) và AFP Kiểm chứng.</a:t>
            </a:r>
          </a:p>
        </p:txBody>
      </p:sp>
      <p:sp>
        <p:nvSpPr>
          <p:cNvPr id="7" name="Rounded Rectangle 6"/>
          <p:cNvSpPr/>
          <p:nvPr/>
        </p:nvSpPr>
        <p:spPr>
          <a:xfrm>
            <a:off x="868680" y="1508760"/>
            <a:ext cx="1463040" cy="128016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FFFFFF"/>
                </a:solidFill>
                <a:latin typeface="Calibri"/>
              </a:rPr>
              <a:t>BƯỚC 01</a:t>
            </a:r>
          </a:p>
          <a:p>
            <a:pPr algn="ctr">
              <a:spcBef>
                <a:spcPts val="200"/>
              </a:spcBef>
            </a:pPr>
            <a:r>
              <a:rPr sz="850" b="0" i="0">
                <a:solidFill>
                  <a:srgbClr val="FFFFFF"/>
                </a:solidFill>
                <a:latin typeface="Calibri"/>
              </a:rPr>
              <a:t>THU THẬP
ĐA NGUỒN
(4,000+ BÀI)</a:t>
            </a:r>
          </a:p>
        </p:txBody>
      </p:sp>
      <p:sp>
        <p:nvSpPr>
          <p:cNvPr id="8" name="Rounded Rectangle 7"/>
          <p:cNvSpPr/>
          <p:nvPr/>
        </p:nvSpPr>
        <p:spPr>
          <a:xfrm>
            <a:off x="731520" y="3136392"/>
            <a:ext cx="10728655" cy="1645920"/>
          </a:xfrm>
          <a:prstGeom prst="roundRect">
            <a:avLst/>
          </a:prstGeom>
          <a:solidFill>
            <a:srgbClr val="F4F6F9"/>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wrap="square" lIns="1737360" rIns="228600" tIns="137160"/>
          <a:lstStyle/>
          <a:p>
            <a:pPr algn="ctr"/>
            <a:r>
              <a:rPr sz="1100" b="1" i="0">
                <a:solidFill>
                  <a:srgbClr val="1B365D"/>
                </a:solidFill>
                <a:latin typeface="Calibri"/>
              </a:rPr>
              <a:t>BƯỚC 2: TẨY DẤU VẾT NGUỒN &amp; CHUẨN HÓA VĂN BẢN (SOURCE DE-BIASING &amp; TEXT NORMALIZATION)</a:t>
            </a:r>
          </a:p>
          <a:p>
            <a:pPr>
              <a:spcBef>
                <a:spcPts val="300"/>
              </a:spcBef>
            </a:pPr>
            <a:r>
              <a:rPr sz="950" b="1" i="0">
                <a:solidFill>
                  <a:srgbClr val="008080"/>
                </a:solidFill>
                <a:latin typeface="Calibri"/>
              </a:rPr>
              <a:t>• Chống hiện tượng 'Học vẹt' (Shortcut Learning): </a:t>
            </a:r>
            <a:r>
              <a:rPr sz="900" b="0" i="0">
                <a:solidFill>
                  <a:srgbClr val="222222"/>
                </a:solidFill>
                <a:latin typeface="Calibri"/>
              </a:rPr>
              <a:t>Dùng Regex quét sạch tên tòa soạn ở phần mở đầu bài (ví dụ: '(Dân trí) -', 'Theo VnExpress', 'VTV News -') và chữ ký tác giả/nguồn tin ở cuối bài. Ép mô hình phải phân loại dựa trên ngữ nghĩa và phong cách viết thay vì nhớ mặt tên báo.
</a:t>
            </a:r>
            <a:r>
              <a:rPr sz="950" b="1" i="0">
                <a:solidFill>
                  <a:srgbClr val="008080"/>
                </a:solidFill>
                <a:latin typeface="Calibri"/>
              </a:rPr>
              <a:t>• Chuẩn hóa Bảng mã &amp; Khử rác HTML: </a:t>
            </a:r>
            <a:r>
              <a:rPr sz="900" b="0" i="0">
                <a:solidFill>
                  <a:srgbClr val="222222"/>
                </a:solidFill>
                <a:latin typeface="Calibri"/>
              </a:rPr>
              <a:t>Đồng bộ 100% bảng mã về Unicode NFC chuẩn (unicodedata.normalize) để triệt tiêu xung đột giữa ký tự dựng sẵn và tổ hợp trong tiếng Việt; bóc tách HTML thô bằng Trafilatura và BeautifulSoup4, loại bỏ quảng cáo, caption ảnh rác.</a:t>
            </a:r>
          </a:p>
        </p:txBody>
      </p:sp>
      <p:sp>
        <p:nvSpPr>
          <p:cNvPr id="9" name="Rounded Rectangle 8"/>
          <p:cNvSpPr/>
          <p:nvPr/>
        </p:nvSpPr>
        <p:spPr>
          <a:xfrm>
            <a:off x="868680" y="3319272"/>
            <a:ext cx="1463040" cy="128016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FFFFFF"/>
                </a:solidFill>
                <a:latin typeface="Calibri"/>
              </a:rPr>
              <a:t>BƯỚC 02</a:t>
            </a:r>
          </a:p>
          <a:p>
            <a:pPr algn="ctr">
              <a:spcBef>
                <a:spcPts val="200"/>
              </a:spcBef>
            </a:pPr>
            <a:r>
              <a:rPr sz="850" b="0" i="0">
                <a:solidFill>
                  <a:srgbClr val="F4F6F9"/>
                </a:solidFill>
                <a:latin typeface="Calibri"/>
              </a:rPr>
              <a:t>TẨY BIAS NGUỒN
&amp; CHUẨN HÓA
UNICODE NFC</a:t>
            </a:r>
          </a:p>
        </p:txBody>
      </p:sp>
      <p:sp>
        <p:nvSpPr>
          <p:cNvPr id="10" name="Rounded Rectangle 9"/>
          <p:cNvSpPr/>
          <p:nvPr/>
        </p:nvSpPr>
        <p:spPr>
          <a:xfrm>
            <a:off x="731520" y="4946904"/>
            <a:ext cx="10728655" cy="1645920"/>
          </a:xfrm>
          <a:prstGeom prst="roundRect">
            <a:avLst/>
          </a:prstGeom>
          <a:solidFill>
            <a:srgbClr val="F4F6F9"/>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1737360" rIns="228600" tIns="137160"/>
          <a:lstStyle/>
          <a:p>
            <a:pPr algn="ctr"/>
            <a:r>
              <a:rPr sz="1100" b="1" i="0">
                <a:solidFill>
                  <a:srgbClr val="1B365D"/>
                </a:solidFill>
                <a:latin typeface="Calibri"/>
              </a:rPr>
              <a:t>BƯỚC 3: KHỬ TRÙNG LẶP CẬN ÂM BẰNG MINHASH &amp; LSH (NEAR-DUPLICATE DEDUPLICATION — JACCARD &gt; 0.85)</a:t>
            </a:r>
          </a:p>
          <a:p>
            <a:pPr>
              <a:spcBef>
                <a:spcPts val="300"/>
              </a:spcBef>
            </a:pPr>
            <a:r>
              <a:rPr sz="950" b="1" i="0">
                <a:solidFill>
                  <a:srgbClr val="1B365D"/>
                </a:solidFill>
                <a:latin typeface="Calibri"/>
              </a:rPr>
              <a:t>• Thuật toán MinHash &amp; LSH Indexing: </a:t>
            </a:r>
            <a:r>
              <a:rPr sz="900" b="0" i="0">
                <a:solidFill>
                  <a:srgbClr val="222222"/>
                </a:solidFill>
                <a:latin typeface="Calibri"/>
              </a:rPr>
              <a:t>Cắt văn bản thành tập hợp 3-word shingles, sinh vector chữ ký số MinHash với K = 128 hàm băm xác suất độc lập. Phân chia LSH thành b = 32 băng (bands), mỗi băng r = 4 hàng (32 x 4 = 128), thiết lập ngưỡng tương đồng Jaccard theta = 0.85.
</a:t>
            </a:r>
            <a:r>
              <a:rPr sz="950" b="1" i="0">
                <a:solidFill>
                  <a:srgbClr val="1B365D"/>
                </a:solidFill>
                <a:latin typeface="Calibri"/>
              </a:rPr>
              <a:t>• Cơ chế giữ lại &amp; Xuất file chuẩn: </a:t>
            </a:r>
            <a:r>
              <a:rPr sz="900" b="0" i="0">
                <a:solidFill>
                  <a:srgbClr val="222222"/>
                </a:solidFill>
                <a:latin typeface="Calibri"/>
              </a:rPr>
              <a:t>Trong mỗi cụm bài báo trùng lặp Jaccard &gt;= 0.85, chỉ giữ lại bản ghi có thời gian xuất bản sớm nhất (bài gốc), loại bỏ toàn bộ bài sao chép; đóng gói kết quả sạch sang data/processed/corpus_dedup.parquet (6 cột chuẩn).</a:t>
            </a:r>
          </a:p>
        </p:txBody>
      </p:sp>
      <p:sp>
        <p:nvSpPr>
          <p:cNvPr id="11" name="Rounded Rectangle 10"/>
          <p:cNvSpPr/>
          <p:nvPr/>
        </p:nvSpPr>
        <p:spPr>
          <a:xfrm>
            <a:off x="868680" y="5129784"/>
            <a:ext cx="1463040" cy="1280160"/>
          </a:xfrm>
          <a:prstGeom prst="roundRect">
            <a:avLst/>
          </a:prstGeom>
          <a:solidFill>
            <a:srgbClr val="0F203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r>
              <a:rPr sz="1000" b="1" i="0">
                <a:solidFill>
                  <a:srgbClr val="FFFFFF"/>
                </a:solidFill>
                <a:latin typeface="Calibri"/>
              </a:rPr>
              <a:t>BƯỚC 03</a:t>
            </a:r>
          </a:p>
          <a:p>
            <a:pPr algn="ctr">
              <a:spcBef>
                <a:spcPts val="200"/>
              </a:spcBef>
            </a:pPr>
            <a:r>
              <a:rPr sz="850" b="0" i="0">
                <a:solidFill>
                  <a:srgbClr val="F4F6F9"/>
                </a:solidFill>
                <a:latin typeface="Calibri"/>
              </a:rPr>
              <a:t>KHỬ TRÙNG LẶP
MINHASH &amp; LSH
(JACCARD &gt; 0.85)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320040"/>
          </a:xfrm>
          <a:prstGeom prst="rect">
            <a:avLst/>
          </a:prstGeom>
          <a:noFill/>
        </p:spPr>
        <p:txBody>
          <a:bodyPr wrap="square" lIns="0" tIns="0" rIns="0" bIns="0">
            <a:spAutoFit/>
          </a:bodyPr>
          <a:lstStyle/>
          <a:p>
            <a:r>
              <a:rPr sz="1000" b="1" i="0">
                <a:solidFill>
                  <a:srgbClr val="008080"/>
                </a:solidFill>
                <a:latin typeface="Calibri"/>
              </a:rPr>
              <a:t>ĐỒ ÁN MÔN HỌC IT3190 — HỌC MÁY &amp; KHAI PHÁ DỮ LIỆU  |  4. KỸ THUẬT ĐẶC TRƯNG CHUYÊN SÂU</a:t>
            </a:r>
          </a:p>
        </p:txBody>
      </p:sp>
      <p:sp>
        <p:nvSpPr>
          <p:cNvPr id="3" name="Rounded Rectangle 2"/>
          <p:cNvSpPr/>
          <p:nvPr/>
        </p:nvSpPr>
        <p:spPr>
          <a:xfrm>
            <a:off x="10271455" y="320040"/>
            <a:ext cx="1188720" cy="32004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B365D"/>
                </a:solidFill>
                <a:latin typeface="Calibri"/>
              </a:rPr>
              <a:t>SLIDE 05 / 08</a:t>
            </a:r>
          </a:p>
        </p:txBody>
      </p:sp>
      <p:sp>
        <p:nvSpPr>
          <p:cNvPr id="4" name="TextBox 3"/>
          <p:cNvSpPr txBox="1"/>
          <p:nvPr/>
        </p:nvSpPr>
        <p:spPr>
          <a:xfrm>
            <a:off x="731520" y="640080"/>
            <a:ext cx="10728655" cy="502920"/>
          </a:xfrm>
          <a:prstGeom prst="rect">
            <a:avLst/>
          </a:prstGeom>
          <a:noFill/>
        </p:spPr>
        <p:txBody>
          <a:bodyPr wrap="square" lIns="0" tIns="0" rIns="0" bIns="0">
            <a:spAutoFit/>
          </a:bodyPr>
          <a:lstStyle/>
          <a:p>
            <a:r>
              <a:rPr sz="2000" b="1" i="0">
                <a:solidFill>
                  <a:srgbClr val="1B365D"/>
                </a:solidFill>
                <a:latin typeface="Calibri"/>
              </a:rPr>
              <a:t>Kỹ Thuật Trích Xuất Kép: 15 Chỉ Số Phong Cách Học vs Biểu Diễn Ngữ Nghĩa PhoBERT</a:t>
            </a:r>
          </a:p>
        </p:txBody>
      </p:sp>
      <p:sp>
        <p:nvSpPr>
          <p:cNvPr id="5" name="Rectangle 4"/>
          <p:cNvSpPr/>
          <p:nvPr/>
        </p:nvSpPr>
        <p:spPr>
          <a:xfrm>
            <a:off x="731520" y="1188720"/>
            <a:ext cx="10728655" cy="18288"/>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5212080" cy="5303520"/>
          </a:xfrm>
          <a:prstGeom prst="roundRect">
            <a:avLst/>
          </a:prstGeom>
          <a:solidFill>
            <a:srgbClr val="F4F6F9"/>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150" b="1" i="0">
                <a:solidFill>
                  <a:srgbClr val="008080"/>
                </a:solidFill>
                <a:latin typeface="Calibri"/>
              </a:rPr>
              <a:t>NHÁNH 1: 15 ĐẶC TRƯNG PHONG CÁCH HỌC (TV2 - 15D)
</a:t>
            </a:r>
          </a:p>
          <a:p>
            <a:pPr>
              <a:spcBef>
                <a:spcPts val="300"/>
              </a:spcBef>
            </a:pPr>
            <a:r>
              <a:rPr sz="950" b="1" i="0">
                <a:solidFill>
                  <a:srgbClr val="1B365D"/>
                </a:solidFill>
                <a:latin typeface="Calibri"/>
              </a:rPr>
              <a:t>▶ Nhóm Dấu câu &amp; Cảm thán (4 chỉ số):
</a:t>
            </a:r>
            <a:r>
              <a:rPr sz="850" b="0" i="0">
                <a:solidFill>
                  <a:srgbClr val="222222"/>
                </a:solidFill>
                <a:latin typeface="Calibri"/>
              </a:rPr>
              <a:t>• exclamation_density: Mật độ dấu chấm than (!) / tổng số từ
• question_density: Mật độ dấu hỏi chấm (?) kích thích tò mò
• quote_density: Mật độ dấu ngoặc kép trích dẫn phát ngôn
• colon_dash_density &amp; punct_density: Dấu ngắt nhịp (: -) &amp; tổng mật độ dấu câu</a:t>
            </a:r>
          </a:p>
          <a:p>
            <a:pPr>
              <a:spcBef>
                <a:spcPts val="300"/>
              </a:spcBef>
            </a:pPr>
            <a:r>
              <a:rPr sz="950" b="1" i="0">
                <a:solidFill>
                  <a:srgbClr val="1B365D"/>
                </a:solidFill>
                <a:latin typeface="Calibri"/>
              </a:rPr>
              <a:t>▶ Nhóm Hình thức &amp; Cấu trúc (5 chỉ số):
</a:t>
            </a:r>
            <a:r>
              <a:rPr sz="850" b="0" i="0">
                <a:solidFill>
                  <a:srgbClr val="222222"/>
                </a:solidFill>
                <a:latin typeface="Calibri"/>
              </a:rPr>
              <a:t>• upper_ratio: Tỷ lệ ký tự viết IN HOA (hành vi la hét, khẩn cấp)
• title_body_ratio: Tỷ lệ độ dài Tiêu đề / Thân bài (Clickbait có tít rất dài)
• digit_in_title: Đếm số lượng chữ số ở tiêu đề (100%, 500k, 7 ngày...)
• avg_sentence_len: Độ dài trung bình của câu (từ / câu)
• teencode_ratio &amp; type_token_ratio: Tỷ lệ viết tắt / độ phong phú từ vựng (TTR)</a:t>
            </a:r>
          </a:p>
          <a:p>
            <a:pPr>
              <a:spcBef>
                <a:spcPts val="300"/>
              </a:spcBef>
            </a:pPr>
            <a:r>
              <a:rPr sz="950" b="1" i="0">
                <a:solidFill>
                  <a:srgbClr val="1B365D"/>
                </a:solidFill>
                <a:latin typeface="Calibri"/>
              </a:rPr>
              <a:t>▶ Nhóm Ngữ dụng &amp; Cảm xúc (6 chỉ số):
</a:t>
            </a:r>
            <a:r>
              <a:rPr sz="850" b="0" i="0">
                <a:solidFill>
                  <a:srgbClr val="222222"/>
                </a:solidFill>
                <a:latin typeface="Calibri"/>
              </a:rPr>
              <a:t>• clickbait_keyword_hits: Số lần xuất hiện từ giật tít ('chấn động', 'ngã ngửa')
• urgency_density: Cụm từ thúc ép chia sẻ ('chia sẻ gấp', 'xem ngay kẻo xóa')
• pronoun_density: Đại từ xưng hô phi chuẩn báo chí ('bà con ơi', 'em thề')
• title_body_jaccard: Độ tương đồng từ vựng tiêu đề vs thân bài (bẫy lừa)
• sentiment_extremity: Mức độ phân cực cảm xúc tuyệt đối |P_pos - P_neg|
• domain_trust_score: Điểm tín nhiệm tên miền &amp; nguồn phát tán tin tức</a:t>
            </a:r>
          </a:p>
          <a:p>
            <a:pPr>
              <a:spcBef>
                <a:spcPts val="400"/>
              </a:spcBef>
            </a:pPr>
            <a:r>
              <a:rPr sz="850" b="1" i="1">
                <a:solidFill>
                  <a:srgbClr val="008080"/>
                </a:solidFill>
                <a:latin typeface="Calibri"/>
              </a:rPr>
              <a:t>★ Chuẩn hóa: StandardScaler (mu=0, sigma=1) -&gt; Xuất X_stylometric.npy (N x 15) đạt tốc độ trích xuất &gt; 500 bài / giây trên CPU.</a:t>
            </a:r>
          </a:p>
        </p:txBody>
      </p:sp>
      <p:sp>
        <p:nvSpPr>
          <p:cNvPr id="7" name="Rounded Rectangle 6"/>
          <p:cNvSpPr/>
          <p:nvPr/>
        </p:nvSpPr>
        <p:spPr>
          <a:xfrm>
            <a:off x="6248095" y="1325880"/>
            <a:ext cx="5212080" cy="5303520"/>
          </a:xfrm>
          <a:prstGeom prst="roundRect">
            <a:avLst/>
          </a:prstGeom>
          <a:solidFill>
            <a:srgbClr val="F4F6F9"/>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150" b="1" i="0">
                <a:solidFill>
                  <a:srgbClr val="1B365D"/>
                </a:solidFill>
                <a:latin typeface="Calibri"/>
              </a:rPr>
              <a:t>NHÁNH 2: BIỂU DIỄN NGỮ NGHĨA SÂU PHOBERT (TV3 - 768D)
</a:t>
            </a:r>
          </a:p>
          <a:p>
            <a:pPr>
              <a:spcBef>
                <a:spcPts val="300"/>
              </a:spcBef>
            </a:pPr>
            <a:r>
              <a:rPr sz="950" b="1" i="0">
                <a:solidFill>
                  <a:srgbClr val="1B365D"/>
                </a:solidFill>
                <a:latin typeface="Calibri"/>
              </a:rPr>
              <a:t>▶ Tách từ ghép tiếng Việt (PyVi Word Segmentation):
</a:t>
            </a:r>
            <a:r>
              <a:rPr sz="850" b="0" i="0">
                <a:solidFill>
                  <a:srgbClr val="222222"/>
                </a:solidFill>
                <a:latin typeface="Calibri"/>
              </a:rPr>
              <a:t>• Tiếng Việt là ngôn ngữ đơn lập, ranh giới từ không tương ứng dấu cách.
• Dùng pyvi.ViTokenizer gom âm tiết thành từ ghép: 'học_sinh', 'chấn_động'.
• Bắt buộc tiền xử lý trước khi nạp vào PhoBERT Tokenizer.</a:t>
            </a:r>
          </a:p>
          <a:p>
            <a:pPr>
              <a:spcBef>
                <a:spcPts val="300"/>
              </a:spcBef>
            </a:pPr>
            <a:r>
              <a:rPr sz="950" b="1" i="0">
                <a:solidFill>
                  <a:srgbClr val="1B365D"/>
                </a:solidFill>
                <a:latin typeface="Calibri"/>
              </a:rPr>
              <a:t>▶ Chiến lược Head-Tail Truncation (256 Tokens):
</a:t>
            </a:r>
            <a:r>
              <a:rPr sz="850" b="0" i="0">
                <a:solidFill>
                  <a:srgbClr val="222222"/>
                </a:solidFill>
                <a:latin typeface="Calibri"/>
              </a:rPr>
              <a:t>• Bài báo dài 800 - 1,500 từ nhưng PhoBERT chỉ nhận tối đa 256 subwords.
• Thay vì cắt ngọn (tokens[:256] làm mất hoàn toàn thân &amp; kết bài), nhóm lấy:
  + 128 tokens đầu: Chứa Tiêu đề + Mở bài (Lede 5W1H của bài báo)
  + 128 tokens cuối: Chứa Kết luận, lời đính chính, cơ quan phát ngôn
• Bảo toàn &gt; 90% tín hiệu ngữ nghĩa cốt lõi mà không bị tràn VRAM GPU.</a:t>
            </a:r>
          </a:p>
          <a:p>
            <a:pPr>
              <a:spcBef>
                <a:spcPts val="300"/>
              </a:spcBef>
            </a:pPr>
            <a:r>
              <a:rPr sz="950" b="1" i="0">
                <a:solidFill>
                  <a:srgbClr val="1B365D"/>
                </a:solidFill>
                <a:latin typeface="Calibri"/>
              </a:rPr>
              <a:t>▶ Cơ chế Attention-Masked Mean Pooling &amp; L2 Norm:
</a:t>
            </a:r>
            <a:r>
              <a:rPr sz="850" b="0" i="0">
                <a:solidFill>
                  <a:srgbClr val="222222"/>
                </a:solidFill>
                <a:latin typeface="Calibri"/>
              </a:rPr>
              <a:t>• Thay vì chỉ dùng token [CLS], áp dụng tính trung bình có mặt nạ chú ý:
  z_sem = sum(m_i * h_i) / sum(m_i) (với m_i là mask 0/1 của token thật)
• Chuẩn hóa vector đơn vị L2: ||z||_2 = 1.0 (khoảng cách Euclid tương đương trực tiếp với Cosine Similarity).</a:t>
            </a:r>
          </a:p>
          <a:p>
            <a:pPr>
              <a:spcBef>
                <a:spcPts val="300"/>
              </a:spcBef>
            </a:pPr>
            <a:r>
              <a:rPr sz="950" b="1" i="0">
                <a:solidFill>
                  <a:srgbClr val="1B365D"/>
                </a:solidFill>
                <a:latin typeface="Calibri"/>
              </a:rPr>
              <a:t>▶ Tối ưu GPU Colab T4 (Chi phí 0 VNĐ):
</a:t>
            </a:r>
            <a:r>
              <a:rPr sz="850" b="0" i="0">
                <a:solidFill>
                  <a:srgbClr val="222222"/>
                </a:solidFill>
                <a:latin typeface="Calibri"/>
              </a:rPr>
              <a:t>• Đóng băng 10 tầng đầu, chỉ tinh chỉnh nhẹ 2 tầng cuối (Layer 10 &amp; 11).
• Batch size = 32, FP16: Mã hóa 4,000 bài báo chỉ mất &lt; 3 phút trên Colab GPU; suy luận đơn lẻ trên CPU mất &lt; 200ms.</a:t>
            </a:r>
          </a:p>
          <a:p>
            <a:pPr>
              <a:spcBef>
                <a:spcPts val="400"/>
              </a:spcBef>
            </a:pPr>
            <a:r>
              <a:rPr sz="850" b="1" i="1">
                <a:solidFill>
                  <a:srgbClr val="1B365D"/>
                </a:solidFill>
                <a:latin typeface="Calibri"/>
              </a:rPr>
              <a:t>★ Xuất kho: X_semantic.npy (N x 768) kiểu float32 chuẩn hóa L2.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320040"/>
          </a:xfrm>
          <a:prstGeom prst="rect">
            <a:avLst/>
          </a:prstGeom>
          <a:noFill/>
        </p:spPr>
        <p:txBody>
          <a:bodyPr wrap="square" lIns="0" tIns="0" rIns="0" bIns="0">
            <a:spAutoFit/>
          </a:bodyPr>
          <a:lstStyle/>
          <a:p>
            <a:r>
              <a:rPr sz="1000" b="1" i="0">
                <a:solidFill>
                  <a:srgbClr val="008080"/>
                </a:solidFill>
                <a:latin typeface="Calibri"/>
              </a:rPr>
              <a:t>ĐỒ ÁN MÔN HỌC IT3190 — HỌC MÁY &amp; KHAI PHÁ DỮ LIỆU  |  5. THIẾT KẾ THỰC NGHIỆM &amp; TRÍ TUỆ NHÂN TẠO GIẢI THÍCH ĐƯỢC</a:t>
            </a:r>
          </a:p>
        </p:txBody>
      </p:sp>
      <p:sp>
        <p:nvSpPr>
          <p:cNvPr id="3" name="Rounded Rectangle 2"/>
          <p:cNvSpPr/>
          <p:nvPr/>
        </p:nvSpPr>
        <p:spPr>
          <a:xfrm>
            <a:off x="10271455" y="320040"/>
            <a:ext cx="1188720" cy="32004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B365D"/>
                </a:solidFill>
                <a:latin typeface="Calibri"/>
              </a:rPr>
              <a:t>SLIDE 06 / 08</a:t>
            </a:r>
          </a:p>
        </p:txBody>
      </p:sp>
      <p:sp>
        <p:nvSpPr>
          <p:cNvPr id="4" name="TextBox 3"/>
          <p:cNvSpPr txBox="1"/>
          <p:nvPr/>
        </p:nvSpPr>
        <p:spPr>
          <a:xfrm>
            <a:off x="731520" y="640080"/>
            <a:ext cx="10728655" cy="502920"/>
          </a:xfrm>
          <a:prstGeom prst="rect">
            <a:avLst/>
          </a:prstGeom>
          <a:noFill/>
        </p:spPr>
        <p:txBody>
          <a:bodyPr wrap="square" lIns="0" tIns="0" rIns="0" bIns="0">
            <a:spAutoFit/>
          </a:bodyPr>
          <a:lstStyle/>
          <a:p>
            <a:r>
              <a:rPr sz="2000" b="1" i="0">
                <a:solidFill>
                  <a:srgbClr val="1B365D"/>
                </a:solidFill>
                <a:latin typeface="Calibri"/>
              </a:rPr>
              <a:t>Thiết Kế Thí Nghiệm Đối Sánh 3 Cấp Độ (Ablation Study) &amp; Minh Giải SHAP XAI</a:t>
            </a:r>
          </a:p>
        </p:txBody>
      </p:sp>
      <p:sp>
        <p:nvSpPr>
          <p:cNvPr id="5" name="Rectangle 4"/>
          <p:cNvSpPr/>
          <p:nvPr/>
        </p:nvSpPr>
        <p:spPr>
          <a:xfrm>
            <a:off x="731520" y="1188720"/>
            <a:ext cx="10728655" cy="18288"/>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728655" cy="2377440"/>
          </a:xfrm>
          <a:prstGeom prst="roundRect">
            <a:avLst/>
          </a:prstGeom>
          <a:solidFill>
            <a:srgbClr val="F4F6F9"/>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r>
              <a:rPr sz="1150" b="1" i="0">
                <a:solidFill>
                  <a:srgbClr val="1B365D"/>
                </a:solidFill>
                <a:latin typeface="Calibri"/>
              </a:rPr>
              <a:t>THIẾT KẾ ĐỐI SÁNH 3 CẤP ĐỘ KHOA HỌC (3-TIER ABLATION STUDY DESIGN)</a:t>
            </a:r>
          </a:p>
          <a:p>
            <a:pPr>
              <a:spcBef>
                <a:spcPts val="300"/>
              </a:spcBef>
            </a:pPr>
            <a:r>
              <a:rPr sz="950" b="1" i="0">
                <a:solidFill>
                  <a:srgbClr val="008080"/>
                </a:solidFill>
                <a:latin typeface="Calibri"/>
              </a:rPr>
              <a:t>• Baseline 1 (Mô hình Cổ điển): </a:t>
            </a:r>
            <a:r>
              <a:rPr sz="900" b="0" i="0">
                <a:solidFill>
                  <a:srgbClr val="222222"/>
                </a:solidFill>
                <a:latin typeface="Calibri"/>
              </a:rPr>
              <a:t>TF-IDF (1-2 gram, max_features=500) + 15 Stylometrics -&gt; Logistic Regression / XGBoost Classifier. Mục tiêu: Đo lường ngưỡng chặn tối thiểu của các phương pháp học máy truyền thống.</a:t>
            </a:r>
          </a:p>
          <a:p>
            <a:pPr>
              <a:spcBef>
                <a:spcPts val="300"/>
              </a:spcBef>
            </a:pPr>
            <a:r>
              <a:rPr sz="950" b="1" i="0">
                <a:solidFill>
                  <a:srgbClr val="008080"/>
                </a:solidFill>
                <a:latin typeface="Calibri"/>
              </a:rPr>
              <a:t>• Baseline 2 (Mô hình Đơn luồng sâu): </a:t>
            </a:r>
            <a:r>
              <a:rPr sz="900" b="0" i="0">
                <a:solidFill>
                  <a:srgbClr val="222222"/>
                </a:solidFill>
                <a:latin typeface="Calibri"/>
              </a:rPr>
              <a:t>Chỉ sử dụng 768 chiều biểu diễn ngữ nghĩa của PhoBERT -&gt; Linear Classifier / XGBoost. Mục tiêu: Đánh giá trần hiệu năng của mô hình ngôn ngữ lớn khi không có thông tin phong cách.</a:t>
            </a:r>
          </a:p>
          <a:p>
            <a:pPr>
              <a:spcBef>
                <a:spcPts val="300"/>
              </a:spcBef>
            </a:pPr>
            <a:r>
              <a:rPr sz="950" b="1" i="0">
                <a:solidFill>
                  <a:srgbClr val="008080"/>
                </a:solidFill>
                <a:latin typeface="Calibri"/>
              </a:rPr>
              <a:t>• Mô hình Đề xuất A (Late Fusion XGBoost): </a:t>
            </a:r>
            <a:r>
              <a:rPr sz="900" b="0" i="0">
                <a:solidFill>
                  <a:srgbClr val="222222"/>
                </a:solidFill>
                <a:latin typeface="Calibri"/>
              </a:rPr>
              <a:t>Ghép nối ma trận 783 chiều [768D Semantics || 15D Stylometrics] đưa vào XGBoost Classifier, tối ưu siêu tham số bằng Optuna (50 trials) và xử lý lệch lớp bằng scale_pos_weight.</a:t>
            </a:r>
          </a:p>
          <a:p>
            <a:pPr>
              <a:spcBef>
                <a:spcPts val="300"/>
              </a:spcBef>
            </a:pPr>
            <a:r>
              <a:rPr sz="950" b="1" i="0">
                <a:solidFill>
                  <a:srgbClr val="008080"/>
                </a:solidFill>
                <a:latin typeface="Calibri"/>
              </a:rPr>
              <a:t>• Mô hình Đề xuất B (PyTorch Dual-Stream NN): </a:t>
            </a:r>
            <a:r>
              <a:rPr sz="900" b="0" i="0">
                <a:solidFill>
                  <a:srgbClr val="222222"/>
                </a:solidFill>
                <a:latin typeface="Calibri"/>
              </a:rPr>
              <a:t>Mạng nơ-ron sâu đa đầu vào: Nhánh ngữ nghĩa nén 768D -&gt; 128D; Nhánh phong cách mở rộng 15D -&gt; 32D; Hợp nhất tại tầng 160 chiều -&gt; FC 64 -&gt; Sigmoid (Giải quyết triệt để sự lệch pha số chiều).</a:t>
            </a:r>
          </a:p>
        </p:txBody>
      </p:sp>
      <p:sp>
        <p:nvSpPr>
          <p:cNvPr id="7" name="Rounded Rectangle 6"/>
          <p:cNvSpPr/>
          <p:nvPr/>
        </p:nvSpPr>
        <p:spPr>
          <a:xfrm>
            <a:off x="731520" y="3840480"/>
            <a:ext cx="5212080" cy="27432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r>
              <a:rPr sz="1100" b="1" i="0">
                <a:solidFill>
                  <a:srgbClr val="1B365D"/>
                </a:solidFill>
                <a:latin typeface="Calibri"/>
              </a:rPr>
              <a:t>QUY TRÌNH ĐÁNH GIÁ &amp; HỆ THỐNG CHỈ SỐ
</a:t>
            </a:r>
          </a:p>
          <a:p>
            <a:pPr>
              <a:spcBef>
                <a:spcPts val="300"/>
              </a:spcBef>
            </a:pPr>
            <a:r>
              <a:rPr sz="900" b="1" i="0">
                <a:solidFill>
                  <a:srgbClr val="008080"/>
                </a:solidFill>
                <a:latin typeface="Calibri"/>
              </a:rPr>
              <a:t>✔ Stratified 5-Fold Cross Validation: </a:t>
            </a:r>
            <a:r>
              <a:rPr sz="850" b="0" i="0">
                <a:solidFill>
                  <a:srgbClr val="222222"/>
                </a:solidFill>
                <a:latin typeface="Calibri"/>
              </a:rPr>
              <a:t>Đảm bảo phân bố tỷ lệ nhãn thật/giả đồng đều ở từng fold, triệt tiêu thiên lệch đánh giá.</a:t>
            </a:r>
          </a:p>
          <a:p>
            <a:pPr>
              <a:spcBef>
                <a:spcPts val="300"/>
              </a:spcBef>
            </a:pPr>
            <a:r>
              <a:rPr sz="900" b="1" i="0">
                <a:solidFill>
                  <a:srgbClr val="008080"/>
                </a:solidFill>
                <a:latin typeface="Calibri"/>
              </a:rPr>
              <a:t>✔ Macro-F1 Score &amp; Binary-F1: </a:t>
            </a:r>
            <a:r>
              <a:rPr sz="850" b="0" i="0">
                <a:solidFill>
                  <a:srgbClr val="222222"/>
                </a:solidFill>
                <a:latin typeface="Calibri"/>
              </a:rPr>
              <a:t>Đánh giá công bằng hiệu năng trên cả 2 lớp, đặc biệt quan trọng khi dữ liệu có thể chênh lệch nhẹ.</a:t>
            </a:r>
          </a:p>
          <a:p>
            <a:pPr>
              <a:spcBef>
                <a:spcPts val="300"/>
              </a:spcBef>
            </a:pPr>
            <a:r>
              <a:rPr sz="900" b="1" i="0">
                <a:solidFill>
                  <a:srgbClr val="008080"/>
                </a:solidFill>
                <a:latin typeface="Calibri"/>
              </a:rPr>
              <a:t>✔ Precision &amp; Recall (Độ chính xác &amp; Thu hồi): </a:t>
            </a:r>
            <a:r>
              <a:rPr sz="850" b="0" i="0">
                <a:solidFill>
                  <a:srgbClr val="222222"/>
                </a:solidFill>
                <a:latin typeface="Calibri"/>
              </a:rPr>
              <a:t>Đo lường khả năng bắt trúng tin giả mà không bắt nhầm bài báo thật uy tín.</a:t>
            </a:r>
          </a:p>
          <a:p>
            <a:pPr>
              <a:spcBef>
                <a:spcPts val="300"/>
              </a:spcBef>
            </a:pPr>
            <a:r>
              <a:rPr sz="900" b="1" i="0">
                <a:solidFill>
                  <a:srgbClr val="008080"/>
                </a:solidFill>
                <a:latin typeface="Calibri"/>
              </a:rPr>
              <a:t>✔ PR-AUC (Precision-Recall Area Under Curve): </a:t>
            </a:r>
            <a:r>
              <a:rPr sz="850" b="0" i="0">
                <a:solidFill>
                  <a:srgbClr val="222222"/>
                </a:solidFill>
                <a:latin typeface="Calibri"/>
              </a:rPr>
              <a:t>Thước đo đáng tin cậy hơn ROC-AUC trong các bài toán phân loại thông tin bất đối xứng.</a:t>
            </a:r>
          </a:p>
        </p:txBody>
      </p:sp>
      <p:sp>
        <p:nvSpPr>
          <p:cNvPr id="8" name="Rounded Rectangle 7"/>
          <p:cNvSpPr/>
          <p:nvPr/>
        </p:nvSpPr>
        <p:spPr>
          <a:xfrm>
            <a:off x="6248095" y="3840480"/>
            <a:ext cx="5212080" cy="27432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r>
              <a:rPr sz="1100" b="1" i="0">
                <a:solidFill>
                  <a:srgbClr val="1B365D"/>
                </a:solidFill>
                <a:latin typeface="Calibri"/>
              </a:rPr>
              <a:t>MINH GIẢI QUYẾT ĐỊNH VỚI SHAP XAI (TV4)
</a:t>
            </a:r>
          </a:p>
          <a:p>
            <a:pPr>
              <a:spcBef>
                <a:spcPts val="300"/>
              </a:spcBef>
            </a:pPr>
            <a:r>
              <a:rPr sz="900" b="1" i="0">
                <a:solidFill>
                  <a:srgbClr val="1B365D"/>
                </a:solidFill>
                <a:latin typeface="Calibri"/>
              </a:rPr>
              <a:t>★ SHAP TreeExplainer: </a:t>
            </a:r>
            <a:r>
              <a:rPr sz="850" b="0" i="0">
                <a:solidFill>
                  <a:srgbClr val="222222"/>
                </a:solidFill>
                <a:latin typeface="Calibri"/>
              </a:rPr>
              <a:t>Tính toán giá trị Shapley từ lý thuyết trò chơi cho mô hình XGBoost tốt nhất trên không gian 783 chiều.</a:t>
            </a:r>
          </a:p>
          <a:p>
            <a:pPr>
              <a:spcBef>
                <a:spcPts val="300"/>
              </a:spcBef>
            </a:pPr>
            <a:r>
              <a:rPr sz="900" b="1" i="0">
                <a:solidFill>
                  <a:srgbClr val="1B365D"/>
                </a:solidFill>
                <a:latin typeface="Calibri"/>
              </a:rPr>
              <a:t>★ Biểu đồ toàn cục (Global Beeswarm Plot): </a:t>
            </a:r>
            <a:r>
              <a:rPr sz="850" b="0" i="0">
                <a:solidFill>
                  <a:srgbClr val="222222"/>
                </a:solidFill>
                <a:latin typeface="Calibri"/>
              </a:rPr>
              <a:t>Xếp hạng và chứng minh 15 đặc trưng Stylometrics đóng góp tỷ trọng quan trọng như thế nào so với ngữ nghĩa.</a:t>
            </a:r>
          </a:p>
          <a:p>
            <a:pPr>
              <a:spcBef>
                <a:spcPts val="300"/>
              </a:spcBef>
            </a:pPr>
            <a:r>
              <a:rPr sz="900" b="1" i="0">
                <a:solidFill>
                  <a:srgbClr val="1B365D"/>
                </a:solidFill>
                <a:latin typeface="Calibri"/>
              </a:rPr>
              <a:t>★ Biểu đồ cục bộ (Local Waterfall Plot): </a:t>
            </a:r>
            <a:r>
              <a:rPr sz="850" b="0" i="0">
                <a:solidFill>
                  <a:srgbClr val="222222"/>
                </a:solidFill>
                <a:latin typeface="Calibri"/>
              </a:rPr>
              <a:t>Bóc tách từng bài báo cụ thể ra các yếu tố tăng/giảm nguy cơ (ví dụ: +0.48 do dấu !, +0.35 do từ giật tít, -0.12 do ngữ nghĩa bài báo).</a:t>
            </a:r>
          </a:p>
          <a:p>
            <a:pPr>
              <a:spcBef>
                <a:spcPts val="300"/>
              </a:spcBef>
            </a:pPr>
            <a:r>
              <a:rPr sz="900" b="1" i="0">
                <a:solidFill>
                  <a:srgbClr val="1B365D"/>
                </a:solidFill>
                <a:latin typeface="Calibri"/>
              </a:rPr>
              <a:t>★ Tích hợp thời gian thực vào Web Gradio: </a:t>
            </a:r>
            <a:r>
              <a:rPr sz="850" b="0" i="0">
                <a:solidFill>
                  <a:srgbClr val="222222"/>
                </a:solidFill>
                <a:latin typeface="Calibri"/>
              </a:rPr>
              <a:t>Xuất kết quả giải thích thân thiện bằng tiếng Việt tới người dùng cuối trong &lt; 1.5 giây.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320040"/>
          </a:xfrm>
          <a:prstGeom prst="rect">
            <a:avLst/>
          </a:prstGeom>
          <a:noFill/>
        </p:spPr>
        <p:txBody>
          <a:bodyPr wrap="square" lIns="0" tIns="0" rIns="0" bIns="0">
            <a:spAutoFit/>
          </a:bodyPr>
          <a:lstStyle/>
          <a:p>
            <a:r>
              <a:rPr sz="1000" b="1" i="0">
                <a:solidFill>
                  <a:srgbClr val="008080"/>
                </a:solidFill>
                <a:latin typeface="Calibri"/>
              </a:rPr>
              <a:t>ĐỒ ÁN MÔN HỌC IT3190 — HỌC MÁY &amp; KHAI PHÁ DỮ LIỆU  |  6. CÔNG NGHỆ &amp; TÍNH KHẢ THI KỸ THUẬT</a:t>
            </a:r>
          </a:p>
        </p:txBody>
      </p:sp>
      <p:sp>
        <p:nvSpPr>
          <p:cNvPr id="3" name="Rounded Rectangle 2"/>
          <p:cNvSpPr/>
          <p:nvPr/>
        </p:nvSpPr>
        <p:spPr>
          <a:xfrm>
            <a:off x="10271455" y="320040"/>
            <a:ext cx="1188720" cy="32004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B365D"/>
                </a:solidFill>
                <a:latin typeface="Calibri"/>
              </a:rPr>
              <a:t>SLIDE 07 / 08</a:t>
            </a:r>
          </a:p>
        </p:txBody>
      </p:sp>
      <p:sp>
        <p:nvSpPr>
          <p:cNvPr id="4" name="TextBox 3"/>
          <p:cNvSpPr txBox="1"/>
          <p:nvPr/>
        </p:nvSpPr>
        <p:spPr>
          <a:xfrm>
            <a:off x="731520" y="640080"/>
            <a:ext cx="10728655" cy="502920"/>
          </a:xfrm>
          <a:prstGeom prst="rect">
            <a:avLst/>
          </a:prstGeom>
          <a:noFill/>
        </p:spPr>
        <p:txBody>
          <a:bodyPr wrap="square" lIns="0" tIns="0" rIns="0" bIns="0">
            <a:spAutoFit/>
          </a:bodyPr>
          <a:lstStyle/>
          <a:p>
            <a:r>
              <a:rPr sz="2000" b="1" i="0">
                <a:solidFill>
                  <a:srgbClr val="1B365D"/>
                </a:solidFill>
                <a:latin typeface="Calibri"/>
              </a:rPr>
              <a:t>Hệ Sinh Thái Công Cụ Khai Phá &amp; Tính Khả Thi Hạ Tầng (0 Đồng Chi Phí)</a:t>
            </a:r>
          </a:p>
        </p:txBody>
      </p:sp>
      <p:sp>
        <p:nvSpPr>
          <p:cNvPr id="5" name="Rectangle 4"/>
          <p:cNvSpPr/>
          <p:nvPr/>
        </p:nvSpPr>
        <p:spPr>
          <a:xfrm>
            <a:off x="731520" y="1188720"/>
            <a:ext cx="10728655" cy="18288"/>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325880"/>
          <a:ext cx="6858000" cy="4700016"/>
        </p:xfrm>
        <a:graphic>
          <a:graphicData uri="http://schemas.openxmlformats.org/drawingml/2006/table">
            <a:tbl>
              <a:tblPr firstRow="1" bandRow="1">
                <a:tableStyleId>{5C22544A-7EE6-4342-B048-85BDC9FD1C3A}</a:tableStyleId>
              </a:tblPr>
              <a:tblGrid>
                <a:gridCol w="1645920"/>
                <a:gridCol w="2103120"/>
                <a:gridCol w="3108960"/>
              </a:tblGrid>
              <a:tr h="384048">
                <a:tc>
                  <a:txBody>
                    <a:bodyPr wrap="square" lIns="109728" rIns="109728" tIns="54864" bIns="54864"/>
                    <a:lstStyle/>
                    <a:p>
                      <a:pPr algn="ctr"/>
                      <a:r>
                        <a:rPr sz="1000" b="1" i="0">
                          <a:solidFill>
                            <a:srgbClr val="FFFFFF"/>
                          </a:solidFill>
                          <a:latin typeface="Calibri"/>
                        </a:rPr>
                        <a:t>Phân Tầng Công Nghệ</a:t>
                      </a:r>
                    </a:p>
                  </a:txBody>
                  <a:tcPr anchor="ctr">
                    <a:solidFill>
                      <a:srgbClr val="1B365D"/>
                    </a:solidFill>
                  </a:tcPr>
                </a:tc>
                <a:tc>
                  <a:txBody>
                    <a:bodyPr wrap="square" lIns="109728" rIns="109728" tIns="54864" bIns="54864"/>
                    <a:lstStyle/>
                    <a:p>
                      <a:pPr algn="ctr"/>
                      <a:r>
                        <a:rPr sz="1000" b="1" i="0">
                          <a:solidFill>
                            <a:srgbClr val="FFFFFF"/>
                          </a:solidFill>
                          <a:latin typeface="Calibri"/>
                        </a:rPr>
                        <a:t>Thư Viện &amp; Framework</a:t>
                      </a:r>
                    </a:p>
                  </a:txBody>
                  <a:tcPr anchor="ctr">
                    <a:solidFill>
                      <a:srgbClr val="1B365D"/>
                    </a:solidFill>
                  </a:tcPr>
                </a:tc>
                <a:tc>
                  <a:txBody>
                    <a:bodyPr wrap="square" lIns="109728" rIns="109728" tIns="54864" bIns="54864"/>
                    <a:lstStyle/>
                    <a:p>
                      <a:pPr algn="ctr"/>
                      <a:r>
                        <a:rPr sz="1000" b="1" i="0">
                          <a:solidFill>
                            <a:srgbClr val="FFFFFF"/>
                          </a:solidFill>
                          <a:latin typeface="Calibri"/>
                        </a:rPr>
                        <a:t>Vai Trò &amp; Chức Năng Cốt Lõi</a:t>
                      </a:r>
                    </a:p>
                  </a:txBody>
                  <a:tcPr anchor="ctr">
                    <a:solidFill>
                      <a:srgbClr val="1B365D"/>
                    </a:solidFill>
                  </a:tcPr>
                </a:tc>
              </a:tr>
              <a:tr h="1078992">
                <a:tc>
                  <a:txBody>
                    <a:bodyPr wrap="square" lIns="109728" rIns="109728" tIns="54864" bIns="54864"/>
                    <a:lstStyle/>
                    <a:p>
                      <a:r>
                        <a:rPr sz="900" b="1" i="0">
                          <a:solidFill>
                            <a:srgbClr val="1B365D"/>
                          </a:solidFill>
                          <a:latin typeface="Calibri"/>
                        </a:rPr>
                        <a:t>Tầng 1: Thu thập &amp; Khai phá dữ liệu</a:t>
                      </a:r>
                    </a:p>
                  </a:txBody>
                  <a:tcPr anchor="ctr">
                    <a:solidFill>
                      <a:srgbClr val="F4F6F9"/>
                    </a:solidFill>
                  </a:tcPr>
                </a:tc>
                <a:tc>
                  <a:txBody>
                    <a:bodyPr wrap="square" lIns="109728" rIns="109728" tIns="54864" bIns="54864"/>
                    <a:lstStyle/>
                    <a:p>
                      <a:r>
                        <a:rPr sz="900" b="0" i="0">
                          <a:solidFill>
                            <a:srgbClr val="008080"/>
                          </a:solidFill>
                          <a:latin typeface="Calibri"/>
                        </a:rPr>
                        <a:t>feedparser, trafilatura, BeautifulSoup4, datasketch, pyarrow</a:t>
                      </a:r>
                    </a:p>
                  </a:txBody>
                  <a:tcPr anchor="ctr">
                    <a:solidFill>
                      <a:srgbClr val="F4F6F9"/>
                    </a:solidFill>
                  </a:tcPr>
                </a:tc>
                <a:tc>
                  <a:txBody>
                    <a:bodyPr wrap="square" lIns="109728" rIns="109728" tIns="54864" bIns="54864"/>
                    <a:lstStyle/>
                    <a:p>
                      <a:r>
                        <a:rPr sz="900" b="0" i="0">
                          <a:solidFill>
                            <a:srgbClr val="222222"/>
                          </a:solidFill>
                          <a:latin typeface="Calibri"/>
                        </a:rPr>
                        <a:t>Cào RSS tự động, bóc tách toàn văn sạch không dính quảng cáo, băm MinHash LSH khử trùng lặp Jaccard &gt; 0.85, lưu Parquet nén Snappy.</a:t>
                      </a:r>
                    </a:p>
                  </a:txBody>
                  <a:tcPr anchor="ctr">
                    <a:solidFill>
                      <a:srgbClr val="F4F6F9"/>
                    </a:solidFill>
                  </a:tcPr>
                </a:tc>
              </a:tr>
              <a:tr h="1078992">
                <a:tc>
                  <a:txBody>
                    <a:bodyPr wrap="square" lIns="109728" rIns="109728" tIns="54864" bIns="54864"/>
                    <a:lstStyle/>
                    <a:p>
                      <a:r>
                        <a:rPr sz="900" b="1" i="0">
                          <a:solidFill>
                            <a:srgbClr val="1B365D"/>
                          </a:solidFill>
                          <a:latin typeface="Calibri"/>
                        </a:rPr>
                        <a:t>Tầng 2: Xử lý Ngôn ngữ &amp; Đặc trưng</a:t>
                      </a:r>
                    </a:p>
                  </a:txBody>
                  <a:tcPr anchor="ctr">
                    <a:solidFill>
                      <a:srgbClr val="FFFFFF"/>
                    </a:solidFill>
                  </a:tcPr>
                </a:tc>
                <a:tc>
                  <a:txBody>
                    <a:bodyPr wrap="square" lIns="109728" rIns="109728" tIns="54864" bIns="54864"/>
                    <a:lstStyle/>
                    <a:p>
                      <a:r>
                        <a:rPr sz="900" b="0" i="0">
                          <a:solidFill>
                            <a:srgbClr val="008080"/>
                          </a:solidFill>
                          <a:latin typeface="Calibri"/>
                        </a:rPr>
                        <a:t>pyvi (ViTokenizer), transformers (HuggingFace), scikit-learn</a:t>
                      </a:r>
                    </a:p>
                  </a:txBody>
                  <a:tcPr anchor="ctr">
                    <a:solidFill>
                      <a:srgbClr val="FFFFFF"/>
                    </a:solidFill>
                  </a:tcPr>
                </a:tc>
                <a:tc>
                  <a:txBody>
                    <a:bodyPr wrap="square" lIns="109728" rIns="109728" tIns="54864" bIns="54864"/>
                    <a:lstStyle/>
                    <a:p>
                      <a:r>
                        <a:rPr sz="900" b="0" i="0">
                          <a:solidFill>
                            <a:srgbClr val="222222"/>
                          </a:solidFill>
                          <a:latin typeface="Calibri"/>
                        </a:rPr>
                        <a:t>Tách từ ghép tiếng Việt, tải mô hình vinai/phobert-base-v2, tính 15 công thức Stylometrics, chuẩn hóa StandardScaler.</a:t>
                      </a:r>
                    </a:p>
                  </a:txBody>
                  <a:tcPr anchor="ctr">
                    <a:solidFill>
                      <a:srgbClr val="FFFFFF"/>
                    </a:solidFill>
                  </a:tcPr>
                </a:tc>
              </a:tr>
              <a:tr h="1078992">
                <a:tc>
                  <a:txBody>
                    <a:bodyPr wrap="square" lIns="109728" rIns="109728" tIns="54864" bIns="54864"/>
                    <a:lstStyle/>
                    <a:p>
                      <a:r>
                        <a:rPr sz="900" b="1" i="0">
                          <a:solidFill>
                            <a:srgbClr val="1B365D"/>
                          </a:solidFill>
                          <a:latin typeface="Calibri"/>
                        </a:rPr>
                        <a:t>Tầng 3: Huấn luyện Mô hình &amp; XAI</a:t>
                      </a:r>
                    </a:p>
                  </a:txBody>
                  <a:tcPr anchor="ctr">
                    <a:solidFill>
                      <a:srgbClr val="F4F6F9"/>
                    </a:solidFill>
                  </a:tcPr>
                </a:tc>
                <a:tc>
                  <a:txBody>
                    <a:bodyPr wrap="square" lIns="109728" rIns="109728" tIns="54864" bIns="54864"/>
                    <a:lstStyle/>
                    <a:p>
                      <a:r>
                        <a:rPr sz="900" b="0" i="0">
                          <a:solidFill>
                            <a:srgbClr val="008080"/>
                          </a:solidFill>
                          <a:latin typeface="Calibri"/>
                        </a:rPr>
                        <a:t>PyTorch (Mixed Precision FP16), XGBoost, Optuna, SHAP</a:t>
                      </a:r>
                    </a:p>
                  </a:txBody>
                  <a:tcPr anchor="ctr">
                    <a:solidFill>
                      <a:srgbClr val="F4F6F9"/>
                    </a:solidFill>
                  </a:tcPr>
                </a:tc>
                <a:tc>
                  <a:txBody>
                    <a:bodyPr wrap="square" lIns="109728" rIns="109728" tIns="54864" bIns="54864"/>
                    <a:lstStyle/>
                    <a:p>
                      <a:r>
                        <a:rPr sz="900" b="0" i="0">
                          <a:solidFill>
                            <a:srgbClr val="222222"/>
                          </a:solidFill>
                          <a:latin typeface="Calibri"/>
                        </a:rPr>
                        <a:t>Xây dựng mạng nơ-ron Dual-Stream Classifier, huấn luyện XGBoost Late Fusion, tối ưu siêu tham số 50 trials, giải thích Shapley values.</a:t>
                      </a:r>
                    </a:p>
                  </a:txBody>
                  <a:tcPr anchor="ctr">
                    <a:solidFill>
                      <a:srgbClr val="F4F6F9"/>
                    </a:solidFill>
                  </a:tcPr>
                </a:tc>
              </a:tr>
              <a:tr h="1078992">
                <a:tc>
                  <a:txBody>
                    <a:bodyPr wrap="square" lIns="109728" rIns="109728" tIns="54864" bIns="54864"/>
                    <a:lstStyle/>
                    <a:p>
                      <a:r>
                        <a:rPr sz="900" b="1" i="0">
                          <a:solidFill>
                            <a:srgbClr val="1B365D"/>
                          </a:solidFill>
                          <a:latin typeface="Calibri"/>
                        </a:rPr>
                        <a:t>Tầng 4: Đóng gói &amp; Triển khai Trực quan</a:t>
                      </a:r>
                    </a:p>
                  </a:txBody>
                  <a:tcPr anchor="ctr">
                    <a:solidFill>
                      <a:srgbClr val="FFFFFF"/>
                    </a:solidFill>
                  </a:tcPr>
                </a:tc>
                <a:tc>
                  <a:txBody>
                    <a:bodyPr wrap="square" lIns="109728" rIns="109728" tIns="54864" bIns="54864"/>
                    <a:lstStyle/>
                    <a:p>
                      <a:r>
                        <a:rPr sz="900" b="0" i="0">
                          <a:solidFill>
                            <a:srgbClr val="008080"/>
                          </a:solidFill>
                          <a:latin typeface="Calibri"/>
                        </a:rPr>
                        <a:t>Gradio Blocks, FastAPI, Docker, Docker Compose</a:t>
                      </a:r>
                    </a:p>
                  </a:txBody>
                  <a:tcPr anchor="ctr">
                    <a:solidFill>
                      <a:srgbClr val="FFFFFF"/>
                    </a:solidFill>
                  </a:tcPr>
                </a:tc>
                <a:tc>
                  <a:txBody>
                    <a:bodyPr wrap="square" lIns="109728" rIns="109728" tIns="54864" bIns="54864"/>
                    <a:lstStyle/>
                    <a:p>
                      <a:r>
                        <a:rPr sz="900" b="0" i="0">
                          <a:solidFill>
                            <a:srgbClr val="222222"/>
                          </a:solidFill>
                          <a:latin typeface="Calibri"/>
                        </a:rPr>
                        <a:t>Giao diện tương tác dán URL phân tích &lt; 1.5s, cung cấp REST API chuẩn /predict, đóng gói môi trường độc lập chạy mọi máy tính.</a:t>
                      </a:r>
                    </a:p>
                  </a:txBody>
                  <a:tcPr anchor="ctr">
                    <a:solidFill>
                      <a:srgbClr val="FFFFFF"/>
                    </a:solidFill>
                  </a:tcPr>
                </a:tc>
              </a:tr>
            </a:tbl>
          </a:graphicData>
        </a:graphic>
      </p:graphicFrame>
      <p:sp>
        <p:nvSpPr>
          <p:cNvPr id="7" name="Rounded Rectangle 6"/>
          <p:cNvSpPr/>
          <p:nvPr/>
        </p:nvSpPr>
        <p:spPr>
          <a:xfrm>
            <a:off x="7818120" y="1325880"/>
            <a:ext cx="3639312" cy="5120640"/>
          </a:xfrm>
          <a:prstGeom prst="roundRect">
            <a:avLst/>
          </a:prstGeom>
          <a:solidFill>
            <a:srgbClr val="F4F6F9"/>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r>
              <a:rPr sz="1150" b="1" i="0">
                <a:solidFill>
                  <a:srgbClr val="1B365D"/>
                </a:solidFill>
                <a:latin typeface="Calibri"/>
              </a:rPr>
              <a:t>KIỂM CHỨNG TÍNH KHẢ THI TÍNH TOÁN
(HẠ TẦNG 0 ĐỒNG CHI PHÍ)
</a:t>
            </a:r>
          </a:p>
          <a:p>
            <a:pPr>
              <a:spcBef>
                <a:spcPts val="400"/>
              </a:spcBef>
            </a:pPr>
            <a:r>
              <a:rPr sz="950" b="1" i="0">
                <a:solidFill>
                  <a:srgbClr val="008080"/>
                </a:solidFill>
                <a:latin typeface="Calibri"/>
              </a:rPr>
              <a:t>★ Google Colab Free GPU (NVIDIA T4 15GB VRAM):
</a:t>
            </a:r>
            <a:r>
              <a:rPr sz="850" b="0" i="0">
                <a:solidFill>
                  <a:srgbClr val="222222"/>
                </a:solidFill>
                <a:latin typeface="Calibri"/>
              </a:rPr>
              <a:t>• Chỉ tiêu tốn ~1.8GB VRAM khi chạy batch size 32 với PhoBERT v2.
• Thời gian mã hóa toàn bộ 4,000 bài báo mất dưới 3 phút.
• Bật Mixed Precision FP16 giúp tăng tốc gấp 2.4 lần.</a:t>
            </a:r>
          </a:p>
          <a:p>
            <a:pPr>
              <a:spcBef>
                <a:spcPts val="400"/>
              </a:spcBef>
            </a:pPr>
            <a:r>
              <a:rPr sz="950" b="1" i="0">
                <a:solidFill>
                  <a:srgbClr val="008080"/>
                </a:solidFill>
                <a:latin typeface="Calibri"/>
              </a:rPr>
              <a:t>★ CPU Máy Cá Nhân (Local Environment):
</a:t>
            </a:r>
            <a:r>
              <a:rPr sz="850" b="0" i="0">
                <a:solidFill>
                  <a:srgbClr val="222222"/>
                </a:solidFill>
                <a:latin typeface="Calibri"/>
              </a:rPr>
              <a:t>• Chạy trơn tru toàn bộ pipeline cào tin, tách từ PyVi và MinHash LSH.
• Tốc độ trích xuất 15 đặc trưng Stylometrics: &gt; 500 bài / giây.
• Thời gian huấn luyện XGBoost Late Fusion: &lt; 45 giây.</a:t>
            </a:r>
          </a:p>
          <a:p>
            <a:pPr>
              <a:spcBef>
                <a:spcPts val="400"/>
              </a:spcBef>
            </a:pPr>
            <a:r>
              <a:rPr sz="950" b="1" i="0">
                <a:solidFill>
                  <a:srgbClr val="008080"/>
                </a:solidFill>
                <a:latin typeface="Calibri"/>
              </a:rPr>
              <a:t>★ Cam kết Kỹ thuật Học viên:
</a:t>
            </a:r>
            <a:r>
              <a:rPr sz="850" b="0" i="0">
                <a:solidFill>
                  <a:srgbClr val="222222"/>
                </a:solidFill>
                <a:latin typeface="Calibri"/>
              </a:rPr>
              <a:t>• 100% mã nguồn chạy ổn định trên Conda thông thường.
• Không phụ thuộc vào GPU thương mại hay API trả phí.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320040"/>
          </a:xfrm>
          <a:prstGeom prst="rect">
            <a:avLst/>
          </a:prstGeom>
          <a:noFill/>
        </p:spPr>
        <p:txBody>
          <a:bodyPr wrap="square" lIns="0" tIns="0" rIns="0" bIns="0">
            <a:spAutoFit/>
          </a:bodyPr>
          <a:lstStyle/>
          <a:p>
            <a:r>
              <a:rPr sz="1000" b="1" i="0">
                <a:solidFill>
                  <a:srgbClr val="008080"/>
                </a:solidFill>
                <a:latin typeface="Calibri"/>
              </a:rPr>
              <a:t>ĐỒ ÁN MÔN HỌC IT3190 — HỌC MÁY &amp; KHAI PHÁ DỮ LIỆU  |  7. TỔ CHỨC ĐỘI NGŨ &amp; KẾ HOẠCH TRIỂN KHAI</a:t>
            </a:r>
          </a:p>
        </p:txBody>
      </p:sp>
      <p:sp>
        <p:nvSpPr>
          <p:cNvPr id="3" name="Rounded Rectangle 2"/>
          <p:cNvSpPr/>
          <p:nvPr/>
        </p:nvSpPr>
        <p:spPr>
          <a:xfrm>
            <a:off x="10271455" y="320040"/>
            <a:ext cx="1188720" cy="320040"/>
          </a:xfrm>
          <a:prstGeom prst="roundRect">
            <a:avLst/>
          </a:prstGeom>
          <a:solidFill>
            <a:srgbClr val="F4F6F9"/>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B365D"/>
                </a:solidFill>
                <a:latin typeface="Calibri"/>
              </a:rPr>
              <a:t>SLIDE 08 / 08</a:t>
            </a:r>
          </a:p>
        </p:txBody>
      </p:sp>
      <p:sp>
        <p:nvSpPr>
          <p:cNvPr id="4" name="TextBox 3"/>
          <p:cNvSpPr txBox="1"/>
          <p:nvPr/>
        </p:nvSpPr>
        <p:spPr>
          <a:xfrm>
            <a:off x="731520" y="640080"/>
            <a:ext cx="10728655" cy="502920"/>
          </a:xfrm>
          <a:prstGeom prst="rect">
            <a:avLst/>
          </a:prstGeom>
          <a:noFill/>
        </p:spPr>
        <p:txBody>
          <a:bodyPr wrap="square" lIns="0" tIns="0" rIns="0" bIns="0">
            <a:spAutoFit/>
          </a:bodyPr>
          <a:lstStyle/>
          <a:p>
            <a:r>
              <a:rPr sz="2000" b="1" i="0">
                <a:solidFill>
                  <a:srgbClr val="1B365D"/>
                </a:solidFill>
                <a:latin typeface="Calibri"/>
              </a:rPr>
              <a:t>Phương Pháp Luận Contract-First &amp; Phân Công Nhiệm Vụ 5 Thành Viên</a:t>
            </a:r>
          </a:p>
        </p:txBody>
      </p:sp>
      <p:sp>
        <p:nvSpPr>
          <p:cNvPr id="5" name="Rectangle 4"/>
          <p:cNvSpPr/>
          <p:nvPr/>
        </p:nvSpPr>
        <p:spPr>
          <a:xfrm>
            <a:off x="731520" y="1188720"/>
            <a:ext cx="10728655" cy="18288"/>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325880"/>
          <a:ext cx="10728655" cy="2468880"/>
        </p:xfrm>
        <a:graphic>
          <a:graphicData uri="http://schemas.openxmlformats.org/drawingml/2006/table">
            <a:tbl>
              <a:tblPr firstRow="1" bandRow="1">
                <a:tableStyleId>{5C22544A-7EE6-4342-B048-85BDC9FD1C3A}</a:tableStyleId>
              </a:tblPr>
              <a:tblGrid>
                <a:gridCol w="1097280"/>
                <a:gridCol w="2377440"/>
                <a:gridCol w="4114800"/>
                <a:gridCol w="3139135"/>
              </a:tblGrid>
              <a:tr h="365760">
                <a:tc>
                  <a:txBody>
                    <a:bodyPr wrap="square" lIns="109728" rIns="109728" tIns="36576" bIns="36576"/>
                    <a:lstStyle/>
                    <a:p>
                      <a:pPr algn="ctr"/>
                      <a:r>
                        <a:rPr sz="950" b="1" i="0">
                          <a:solidFill>
                            <a:srgbClr val="FFFFFF"/>
                          </a:solidFill>
                          <a:latin typeface="Calibri"/>
                        </a:rPr>
                        <a:t>Thành Viên</a:t>
                      </a:r>
                    </a:p>
                  </a:txBody>
                  <a:tcPr anchor="ctr">
                    <a:solidFill>
                      <a:srgbClr val="1B365D"/>
                    </a:solidFill>
                  </a:tcPr>
                </a:tc>
                <a:tc>
                  <a:txBody>
                    <a:bodyPr wrap="square" lIns="109728" rIns="109728" tIns="36576" bIns="36576"/>
                    <a:lstStyle/>
                    <a:p>
                      <a:pPr algn="ctr"/>
                      <a:r>
                        <a:rPr sz="950" b="1" i="0">
                          <a:solidFill>
                            <a:srgbClr val="FFFFFF"/>
                          </a:solidFill>
                          <a:latin typeface="Calibri"/>
                        </a:rPr>
                        <a:t>Vai Trò Chuyên Môn</a:t>
                      </a:r>
                    </a:p>
                  </a:txBody>
                  <a:tcPr anchor="ctr">
                    <a:solidFill>
                      <a:srgbClr val="1B365D"/>
                    </a:solidFill>
                  </a:tcPr>
                </a:tc>
                <a:tc>
                  <a:txBody>
                    <a:bodyPr wrap="square" lIns="109728" rIns="109728" tIns="36576" bIns="36576"/>
                    <a:lstStyle/>
                    <a:p>
                      <a:pPr algn="ctr"/>
                      <a:r>
                        <a:rPr sz="950" b="1" i="0">
                          <a:solidFill>
                            <a:srgbClr val="FFFFFF"/>
                          </a:solidFill>
                          <a:latin typeface="Calibri"/>
                        </a:rPr>
                        <a:t>Nhiệm Vụ Kỹ Thuật Chính</a:t>
                      </a:r>
                    </a:p>
                  </a:txBody>
                  <a:tcPr anchor="ctr">
                    <a:solidFill>
                      <a:srgbClr val="1B365D"/>
                    </a:solidFill>
                  </a:tcPr>
                </a:tc>
                <a:tc>
                  <a:txBody>
                    <a:bodyPr wrap="square" lIns="109728" rIns="109728" tIns="36576" bIns="36576"/>
                    <a:lstStyle/>
                    <a:p>
                      <a:pPr algn="ctr"/>
                      <a:r>
                        <a:rPr sz="950" b="1" i="0">
                          <a:solidFill>
                            <a:srgbClr val="FFFFFF"/>
                          </a:solidFill>
                          <a:latin typeface="Calibri"/>
                        </a:rPr>
                        <a:t>Tập Tin Bàn Giao Thật (Deliverable)</a:t>
                      </a:r>
                    </a:p>
                  </a:txBody>
                  <a:tcPr anchor="ctr">
                    <a:solidFill>
                      <a:srgbClr val="1B365D"/>
                    </a:solidFill>
                  </a:tcPr>
                </a:tc>
              </a:tr>
              <a:tr h="420624">
                <a:tc>
                  <a:txBody>
                    <a:bodyPr wrap="square" lIns="109728" rIns="109728" tIns="36576" bIns="36576"/>
                    <a:lstStyle/>
                    <a:p>
                      <a:r>
                        <a:rPr sz="850" b="1" i="0">
                          <a:solidFill>
                            <a:srgbClr val="1B365D"/>
                          </a:solidFill>
                          <a:latin typeface="Calibri"/>
                        </a:rPr>
                        <a:t>TV1</a:t>
                      </a:r>
                    </a:p>
                  </a:txBody>
                  <a:tcPr anchor="ctr">
                    <a:solidFill>
                      <a:srgbClr val="F4F6F9"/>
                    </a:solidFill>
                  </a:tcPr>
                </a:tc>
                <a:tc>
                  <a:txBody>
                    <a:bodyPr wrap="square" lIns="109728" rIns="109728" tIns="36576" bIns="36576"/>
                    <a:lstStyle/>
                    <a:p>
                      <a:r>
                        <a:rPr sz="850" b="1" i="0">
                          <a:solidFill>
                            <a:srgbClr val="008080"/>
                          </a:solidFill>
                          <a:latin typeface="Calibri"/>
                        </a:rPr>
                        <a:t>Kỹ sư Dữ liệu &amp; Web Crawling</a:t>
                      </a:r>
                    </a:p>
                  </a:txBody>
                  <a:tcPr anchor="ctr">
                    <a:solidFill>
                      <a:srgbClr val="F4F6F9"/>
                    </a:solidFill>
                  </a:tcPr>
                </a:tc>
                <a:tc>
                  <a:txBody>
                    <a:bodyPr wrap="square" lIns="109728" rIns="109728" tIns="36576" bIns="36576"/>
                    <a:lstStyle/>
                    <a:p>
                      <a:r>
                        <a:rPr sz="850" b="0" i="0">
                          <a:solidFill>
                            <a:srgbClr val="222222"/>
                          </a:solidFill>
                          <a:latin typeface="Calibri"/>
                        </a:rPr>
                        <a:t>Cào RSS đa nguồn, bóc tách toàn văn sạch, khử trùng MinHash LSH (Jaccard &gt; 0.85)</a:t>
                      </a:r>
                    </a:p>
                  </a:txBody>
                  <a:tcPr anchor="ctr">
                    <a:solidFill>
                      <a:srgbClr val="F4F6F9"/>
                    </a:solidFill>
                  </a:tcPr>
                </a:tc>
                <a:tc>
                  <a:txBody>
                    <a:bodyPr wrap="square" lIns="109728" rIns="109728" tIns="36576" bIns="36576"/>
                    <a:lstStyle/>
                    <a:p>
                      <a:r>
                        <a:rPr sz="850" b="0" i="0">
                          <a:solidFill>
                            <a:srgbClr val="222222"/>
                          </a:solidFill>
                          <a:latin typeface="Calibri"/>
                        </a:rPr>
                        <a:t>corpus_dedup.parquet (4,000+ bài, 6 cột)</a:t>
                      </a:r>
                    </a:p>
                  </a:txBody>
                  <a:tcPr anchor="ctr">
                    <a:solidFill>
                      <a:srgbClr val="F4F6F9"/>
                    </a:solidFill>
                  </a:tcPr>
                </a:tc>
              </a:tr>
              <a:tr h="420624">
                <a:tc>
                  <a:txBody>
                    <a:bodyPr wrap="square" lIns="109728" rIns="109728" tIns="36576" bIns="36576"/>
                    <a:lstStyle/>
                    <a:p>
                      <a:r>
                        <a:rPr sz="850" b="1" i="0">
                          <a:solidFill>
                            <a:srgbClr val="1B365D"/>
                          </a:solidFill>
                          <a:latin typeface="Calibri"/>
                        </a:rPr>
                        <a:t>TV2</a:t>
                      </a:r>
                    </a:p>
                  </a:txBody>
                  <a:tcPr anchor="ctr">
                    <a:solidFill>
                      <a:srgbClr val="FFFFFF"/>
                    </a:solidFill>
                  </a:tcPr>
                </a:tc>
                <a:tc>
                  <a:txBody>
                    <a:bodyPr wrap="square" lIns="109728" rIns="109728" tIns="36576" bIns="36576"/>
                    <a:lstStyle/>
                    <a:p>
                      <a:r>
                        <a:rPr sz="850" b="1" i="0">
                          <a:solidFill>
                            <a:srgbClr val="008080"/>
                          </a:solidFill>
                          <a:latin typeface="Calibri"/>
                        </a:rPr>
                        <a:t>Kỹ sư Ngôn ngữ &amp; Stylometrics</a:t>
                      </a:r>
                    </a:p>
                  </a:txBody>
                  <a:tcPr anchor="ctr">
                    <a:solidFill>
                      <a:srgbClr val="FFFFFF"/>
                    </a:solidFill>
                  </a:tcPr>
                </a:tc>
                <a:tc>
                  <a:txBody>
                    <a:bodyPr wrap="square" lIns="109728" rIns="109728" tIns="36576" bIns="36576"/>
                    <a:lstStyle/>
                    <a:p>
                      <a:r>
                        <a:rPr sz="850" b="0" i="0">
                          <a:solidFill>
                            <a:srgbClr val="222222"/>
                          </a:solidFill>
                          <a:latin typeface="Calibri"/>
                        </a:rPr>
                        <a:t>Tách từ ghép PyVi, xây từ điển giật gân, lượng hóa 15 công thức phong cách học</a:t>
                      </a:r>
                    </a:p>
                  </a:txBody>
                  <a:tcPr anchor="ctr">
                    <a:solidFill>
                      <a:srgbClr val="FFFFFF"/>
                    </a:solidFill>
                  </a:tcPr>
                </a:tc>
                <a:tc>
                  <a:txBody>
                    <a:bodyPr wrap="square" lIns="109728" rIns="109728" tIns="36576" bIns="36576"/>
                    <a:lstStyle/>
                    <a:p>
                      <a:r>
                        <a:rPr sz="850" b="0" i="0">
                          <a:solidFill>
                            <a:srgbClr val="222222"/>
                          </a:solidFill>
                          <a:latin typeface="Calibri"/>
                        </a:rPr>
                        <a:t>X_stylometric.npy (N x 15, StandardScaler)</a:t>
                      </a:r>
                    </a:p>
                  </a:txBody>
                  <a:tcPr anchor="ctr">
                    <a:solidFill>
                      <a:srgbClr val="FFFFFF"/>
                    </a:solidFill>
                  </a:tcPr>
                </a:tc>
              </a:tr>
              <a:tr h="420624">
                <a:tc>
                  <a:txBody>
                    <a:bodyPr wrap="square" lIns="109728" rIns="109728" tIns="36576" bIns="36576"/>
                    <a:lstStyle/>
                    <a:p>
                      <a:r>
                        <a:rPr sz="850" b="1" i="0">
                          <a:solidFill>
                            <a:srgbClr val="1B365D"/>
                          </a:solidFill>
                          <a:latin typeface="Calibri"/>
                        </a:rPr>
                        <a:t>TV3</a:t>
                      </a:r>
                    </a:p>
                  </a:txBody>
                  <a:tcPr anchor="ctr">
                    <a:solidFill>
                      <a:srgbClr val="F4F6F9"/>
                    </a:solidFill>
                  </a:tcPr>
                </a:tc>
                <a:tc>
                  <a:txBody>
                    <a:bodyPr wrap="square" lIns="109728" rIns="109728" tIns="36576" bIns="36576"/>
                    <a:lstStyle/>
                    <a:p>
                      <a:r>
                        <a:rPr sz="850" b="1" i="0">
                          <a:solidFill>
                            <a:srgbClr val="008080"/>
                          </a:solidFill>
                          <a:latin typeface="Calibri"/>
                        </a:rPr>
                        <a:t>Kỹ sư Học sâu PhoBERT</a:t>
                      </a:r>
                    </a:p>
                  </a:txBody>
                  <a:tcPr anchor="ctr">
                    <a:solidFill>
                      <a:srgbClr val="F4F6F9"/>
                    </a:solidFill>
                  </a:tcPr>
                </a:tc>
                <a:tc>
                  <a:txBody>
                    <a:bodyPr wrap="square" lIns="109728" rIns="109728" tIns="36576" bIns="36576"/>
                    <a:lstStyle/>
                    <a:p>
                      <a:r>
                        <a:rPr sz="850" b="0" i="0">
                          <a:solidFill>
                            <a:srgbClr val="222222"/>
                          </a:solidFill>
                          <a:latin typeface="Calibri"/>
                        </a:rPr>
                        <a:t>Cắt tỉa Head-Tail 256 tokens, GPU Mean Pooling, chuẩn hóa vector đơn vị L2</a:t>
                      </a:r>
                    </a:p>
                  </a:txBody>
                  <a:tcPr anchor="ctr">
                    <a:solidFill>
                      <a:srgbClr val="F4F6F9"/>
                    </a:solidFill>
                  </a:tcPr>
                </a:tc>
                <a:tc>
                  <a:txBody>
                    <a:bodyPr wrap="square" lIns="109728" rIns="109728" tIns="36576" bIns="36576"/>
                    <a:lstStyle/>
                    <a:p>
                      <a:r>
                        <a:rPr sz="850" b="0" i="0">
                          <a:solidFill>
                            <a:srgbClr val="222222"/>
                          </a:solidFill>
                          <a:latin typeface="Calibri"/>
                        </a:rPr>
                        <a:t>X_semantic.npy (N x 768, L2 Norm)</a:t>
                      </a:r>
                    </a:p>
                  </a:txBody>
                  <a:tcPr anchor="ctr">
                    <a:solidFill>
                      <a:srgbClr val="F4F6F9"/>
                    </a:solidFill>
                  </a:tcPr>
                </a:tc>
              </a:tr>
              <a:tr h="420624">
                <a:tc>
                  <a:txBody>
                    <a:bodyPr wrap="square" lIns="109728" rIns="109728" tIns="36576" bIns="36576"/>
                    <a:lstStyle/>
                    <a:p>
                      <a:r>
                        <a:rPr sz="850" b="1" i="0">
                          <a:solidFill>
                            <a:srgbClr val="1B365D"/>
                          </a:solidFill>
                          <a:latin typeface="Calibri"/>
                        </a:rPr>
                        <a:t>TV4</a:t>
                      </a:r>
                    </a:p>
                  </a:txBody>
                  <a:tcPr anchor="ctr">
                    <a:solidFill>
                      <a:srgbClr val="FFFFFF"/>
                    </a:solidFill>
                  </a:tcPr>
                </a:tc>
                <a:tc>
                  <a:txBody>
                    <a:bodyPr wrap="square" lIns="109728" rIns="109728" tIns="36576" bIns="36576"/>
                    <a:lstStyle/>
                    <a:p>
                      <a:r>
                        <a:rPr sz="850" b="1" i="0">
                          <a:solidFill>
                            <a:srgbClr val="008080"/>
                          </a:solidFill>
                          <a:latin typeface="Calibri"/>
                        </a:rPr>
                        <a:t>Trưởng nhóm Mô hình &amp; XAI</a:t>
                      </a:r>
                    </a:p>
                  </a:txBody>
                  <a:tcPr anchor="ctr">
                    <a:solidFill>
                      <a:srgbClr val="FFFFFF"/>
                    </a:solidFill>
                  </a:tcPr>
                </a:tc>
                <a:tc>
                  <a:txBody>
                    <a:bodyPr wrap="square" lIns="109728" rIns="109728" tIns="36576" bIns="36576"/>
                    <a:lstStyle/>
                    <a:p>
                      <a:r>
                        <a:rPr sz="850" b="0" i="0">
                          <a:solidFill>
                            <a:srgbClr val="222222"/>
                          </a:solidFill>
                          <a:latin typeface="Calibri"/>
                        </a:rPr>
                        <a:t>Huấn luyện Late Fusion (XGBoost + Dual-Stream NN), Stratified 5-Fold CV, SHAP Explainer</a:t>
                      </a:r>
                    </a:p>
                  </a:txBody>
                  <a:tcPr anchor="ctr">
                    <a:solidFill>
                      <a:srgbClr val="FFFFFF"/>
                    </a:solidFill>
                  </a:tcPr>
                </a:tc>
                <a:tc>
                  <a:txBody>
                    <a:bodyPr wrap="square" lIns="109728" rIns="109728" tIns="36576" bIns="36576"/>
                    <a:lstStyle/>
                    <a:p>
                      <a:r>
                        <a:rPr sz="850" b="0" i="0">
                          <a:solidFill>
                            <a:srgbClr val="222222"/>
                          </a:solidFill>
                          <a:latin typeface="Calibri"/>
                        </a:rPr>
                        <a:t>best_fusion_xgboost.json &amp; predict_with_shap()</a:t>
                      </a:r>
                    </a:p>
                  </a:txBody>
                  <a:tcPr anchor="ctr">
                    <a:solidFill>
                      <a:srgbClr val="FFFFFF"/>
                    </a:solidFill>
                  </a:tcPr>
                </a:tc>
              </a:tr>
              <a:tr h="420624">
                <a:tc>
                  <a:txBody>
                    <a:bodyPr wrap="square" lIns="109728" rIns="109728" tIns="36576" bIns="36576"/>
                    <a:lstStyle/>
                    <a:p>
                      <a:r>
                        <a:rPr sz="850" b="1" i="0">
                          <a:solidFill>
                            <a:srgbClr val="1B365D"/>
                          </a:solidFill>
                          <a:latin typeface="Calibri"/>
                        </a:rPr>
                        <a:t>TV5</a:t>
                      </a:r>
                    </a:p>
                  </a:txBody>
                  <a:tcPr anchor="ctr">
                    <a:solidFill>
                      <a:srgbClr val="F4F6F9"/>
                    </a:solidFill>
                  </a:tcPr>
                </a:tc>
                <a:tc>
                  <a:txBody>
                    <a:bodyPr wrap="square" lIns="109728" rIns="109728" tIns="36576" bIns="36576"/>
                    <a:lstStyle/>
                    <a:p>
                      <a:r>
                        <a:rPr sz="850" b="1" i="0">
                          <a:solidFill>
                            <a:srgbClr val="008080"/>
                          </a:solidFill>
                          <a:latin typeface="Calibri"/>
                        </a:rPr>
                        <a:t>Kỹ sư MLOps &amp; Web UI Demo</a:t>
                      </a:r>
                    </a:p>
                  </a:txBody>
                  <a:tcPr anchor="ctr">
                    <a:solidFill>
                      <a:srgbClr val="F4F6F9"/>
                    </a:solidFill>
                  </a:tcPr>
                </a:tc>
                <a:tc>
                  <a:txBody>
                    <a:bodyPr wrap="square" lIns="109728" rIns="109728" tIns="36576" bIns="36576"/>
                    <a:lstStyle/>
                    <a:p>
                      <a:r>
                        <a:rPr sz="850" b="0" i="0">
                          <a:solidFill>
                            <a:srgbClr val="222222"/>
                          </a:solidFill>
                          <a:latin typeface="Calibri"/>
                        </a:rPr>
                        <a:t>Xây dựng Web Gradio (Dán URL/Text), REST API FastAPI, đóng gói Docker, điều phối slide</a:t>
                      </a:r>
                    </a:p>
                  </a:txBody>
                  <a:tcPr anchor="ctr">
                    <a:solidFill>
                      <a:srgbClr val="F4F6F9"/>
                    </a:solidFill>
                  </a:tcPr>
                </a:tc>
                <a:tc>
                  <a:txBody>
                    <a:bodyPr wrap="square" lIns="109728" rIns="109728" tIns="36576" bIns="36576"/>
                    <a:lstStyle/>
                    <a:p>
                      <a:r>
                        <a:rPr sz="850" b="0" i="0">
                          <a:solidFill>
                            <a:srgbClr val="222222"/>
                          </a:solidFill>
                          <a:latin typeface="Calibri"/>
                        </a:rPr>
                        <a:t>app.py, Dockerfile, Oral Defense Slides</a:t>
                      </a:r>
                    </a:p>
                  </a:txBody>
                  <a:tcPr anchor="ctr">
                    <a:solidFill>
                      <a:srgbClr val="F4F6F9"/>
                    </a:solidFill>
                  </a:tcPr>
                </a:tc>
              </a:tr>
            </a:tbl>
          </a:graphicData>
        </a:graphic>
      </p:graphicFrame>
      <p:sp>
        <p:nvSpPr>
          <p:cNvPr id="7" name="Rounded Rectangle 6"/>
          <p:cNvSpPr/>
          <p:nvPr/>
        </p:nvSpPr>
        <p:spPr>
          <a:xfrm>
            <a:off x="731520" y="4069080"/>
            <a:ext cx="3364992" cy="246888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050" b="1" i="0">
                <a:solidFill>
                  <a:srgbClr val="C0392B"/>
                </a:solidFill>
                <a:latin typeface="Calibri"/>
              </a:rPr>
              <a:t>BẪY NGHẼN THÁC NƯỚC (WATERFALL)
</a:t>
            </a:r>
          </a:p>
          <a:p>
            <a:pPr>
              <a:spcBef>
                <a:spcPts val="300"/>
              </a:spcBef>
            </a:pPr>
            <a:r>
              <a:rPr sz="850" b="0" i="0">
                <a:solidFill>
                  <a:srgbClr val="222222"/>
                </a:solidFill>
                <a:latin typeface="Calibri"/>
              </a:rPr>
              <a:t>⚠ Phụ thuộc tuần tự: TV2 &amp; TV3 phải chờ TV1 cào dữ liệu (mất 2-3 tuần đầu dự án).</a:t>
            </a:r>
          </a:p>
          <a:p>
            <a:pPr>
              <a:spcBef>
                <a:spcPts val="300"/>
              </a:spcBef>
            </a:pPr>
            <a:r>
              <a:rPr sz="850" b="0" i="0">
                <a:solidFill>
                  <a:srgbClr val="222222"/>
                </a:solidFill>
                <a:latin typeface="Calibri"/>
              </a:rPr>
              <a:t>⚠ Áp lực mô hình: TV4 phải chờ feature matrix xong mới có thể dựng và tinh chỉnh mô hình.</a:t>
            </a:r>
          </a:p>
          <a:p>
            <a:pPr>
              <a:spcBef>
                <a:spcPts val="300"/>
              </a:spcBef>
            </a:pPr>
            <a:r>
              <a:rPr sz="850" b="0" i="0">
                <a:solidFill>
                  <a:srgbClr val="222222"/>
                </a:solidFill>
                <a:latin typeface="Calibri"/>
              </a:rPr>
              <a:t>⚠ Rủi ro MLOps: TV5 chỉ có thể làm giao diện ở tuần cuối, dễ vỡ tiến độ khi tích hợp.</a:t>
            </a:r>
          </a:p>
        </p:txBody>
      </p:sp>
      <p:sp>
        <p:nvSpPr>
          <p:cNvPr id="8" name="Rounded Rectangle 7"/>
          <p:cNvSpPr/>
          <p:nvPr/>
        </p:nvSpPr>
        <p:spPr>
          <a:xfrm>
            <a:off x="4407408" y="4069080"/>
            <a:ext cx="3364992" cy="2468880"/>
          </a:xfrm>
          <a:prstGeom prst="roundRect">
            <a:avLst/>
          </a:prstGeom>
          <a:solidFill>
            <a:srgbClr val="FFFFFF"/>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050" b="1" i="0">
                <a:solidFill>
                  <a:srgbClr val="008080"/>
                </a:solidFill>
                <a:latin typeface="Calibri"/>
              </a:rPr>
              <a:t>GIẢI PHÁP CONTRACT-FIRST &amp; MOCK
</a:t>
            </a:r>
          </a:p>
          <a:p>
            <a:pPr>
              <a:spcBef>
                <a:spcPts val="300"/>
              </a:spcBef>
            </a:pPr>
            <a:r>
              <a:rPr sz="850" b="0" i="0">
                <a:solidFill>
                  <a:srgbClr val="222222"/>
                </a:solidFill>
                <a:latin typeface="Calibri"/>
              </a:rPr>
              <a:t>✔ Đóng băng 4 Hợp đồng Dữ liệu: Khóa chặt schema Parquet, Tensor [N,15], Embedding [N,768] và JSON đầu ra.</a:t>
            </a:r>
          </a:p>
          <a:p>
            <a:pPr>
              <a:spcBef>
                <a:spcPts val="300"/>
              </a:spcBef>
            </a:pPr>
            <a:r>
              <a:rPr sz="850" b="0" i="0">
                <a:solidFill>
                  <a:srgbClr val="222222"/>
                </a:solidFill>
                <a:latin typeface="Calibri"/>
              </a:rPr>
              <a:t>✔ Bộ sinh Mock Fixtures: Chạy mock_data_generator.py sinh sẵn sample data trong data/fixtures/ ngay Ngày 1.</a:t>
            </a:r>
          </a:p>
          <a:p>
            <a:pPr>
              <a:spcBef>
                <a:spcPts val="300"/>
              </a:spcBef>
            </a:pPr>
            <a:r>
              <a:rPr sz="850" b="0" i="0">
                <a:solidFill>
                  <a:srgbClr val="222222"/>
                </a:solidFill>
                <a:latin typeface="Calibri"/>
              </a:rPr>
              <a:t>✔ Lập trình độc lập 100%: 5 thành viên lập trình song song từ Ngày 1 không chờ đợi bất kỳ ai.</a:t>
            </a:r>
          </a:p>
        </p:txBody>
      </p:sp>
      <p:sp>
        <p:nvSpPr>
          <p:cNvPr id="9" name="Rounded Rectangle 8"/>
          <p:cNvSpPr/>
          <p:nvPr/>
        </p:nvSpPr>
        <p:spPr>
          <a:xfrm>
            <a:off x="8083296" y="4069080"/>
            <a:ext cx="3364992" cy="2468880"/>
          </a:xfrm>
          <a:prstGeom prst="round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050" b="1" i="0">
                <a:solidFill>
                  <a:srgbClr val="1B365D"/>
                </a:solidFill>
                <a:latin typeface="Calibri"/>
              </a:rPr>
              <a:t>LỢI ÍCH VẬN HÀNH &amp; KIỂM THỬ CI/CD
</a:t>
            </a:r>
          </a:p>
          <a:p>
            <a:pPr>
              <a:spcBef>
                <a:spcPts val="300"/>
              </a:spcBef>
            </a:pPr>
            <a:r>
              <a:rPr sz="850" b="0" i="0">
                <a:solidFill>
                  <a:srgbClr val="222222"/>
                </a:solidFill>
                <a:latin typeface="Calibri"/>
              </a:rPr>
              <a:t>★ Kiểm thử tự động: Chỉ 1 lệnh `pytest tests/test_data_contracts.py` để verify tương thích 100%.</a:t>
            </a:r>
          </a:p>
          <a:p>
            <a:pPr>
              <a:spcBef>
                <a:spcPts val="300"/>
              </a:spcBef>
            </a:pPr>
            <a:r>
              <a:rPr sz="850" b="0" i="0">
                <a:solidFill>
                  <a:srgbClr val="222222"/>
                </a:solidFill>
                <a:latin typeface="Calibri"/>
              </a:rPr>
              <a:t>★ Tích hợp không đau đớn: Khi dữ liệu thật về, thay thế mock fixtures mà không sửa 1 dòng code logic nào.</a:t>
            </a:r>
          </a:p>
          <a:p>
            <a:pPr>
              <a:spcBef>
                <a:spcPts val="300"/>
              </a:spcBef>
            </a:pPr>
            <a:r>
              <a:rPr sz="850" b="0" i="0">
                <a:solidFill>
                  <a:srgbClr val="222222"/>
                </a:solidFill>
                <a:latin typeface="Calibri"/>
              </a:rPr>
              <a:t>★ Đúng tiến độ môn học: Đảm bảo toàn nhóm về đích trước hạn bảo vệ đề tài với chất lượng cao nhất.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